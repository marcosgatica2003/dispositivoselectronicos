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90" r:id="rId7"/>
    <p:sldId id="293" r:id="rId8"/>
    <p:sldId id="261" r:id="rId9"/>
    <p:sldId id="294" r:id="rId10"/>
    <p:sldId id="292" r:id="rId11"/>
    <p:sldId id="297" r:id="rId12"/>
    <p:sldId id="296" r:id="rId13"/>
  </p:sldIdLst>
  <p:sldSz cx="12192000" cy="6858000"/>
  <p:notesSz cx="6858000" cy="9144000"/>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5" autoAdjust="0"/>
    <p:restoredTop sz="94660"/>
  </p:normalViewPr>
  <p:slideViewPr>
    <p:cSldViewPr snapToGrid="0">
      <p:cViewPr varScale="1">
        <p:scale>
          <a:sx n="69" d="100"/>
          <a:sy n="69" d="100"/>
        </p:scale>
        <p:origin x="488"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s-ES" smtClean="0"/>
              <a:t>Haga clic para modificar el estilo de título del patrón</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n-US" dirty="0"/>
          </a:p>
        </p:txBody>
      </p:sp>
      <p:sp>
        <p:nvSpPr>
          <p:cNvPr id="4" name="Date Placeholder 3"/>
          <p:cNvSpPr>
            <a:spLocks noGrp="1"/>
          </p:cNvSpPr>
          <p:nvPr>
            <p:ph type="dt" sz="half" idx="10"/>
          </p:nvPr>
        </p:nvSpPr>
        <p:spPr/>
        <p:txBody>
          <a:bodyPr/>
          <a:lstStyle/>
          <a:p>
            <a:fld id="{139199AB-3286-4BEF-8864-68976EA0ED19}" type="datetimeFigureOut">
              <a:rPr lang="es-AR" smtClean="0"/>
              <a:t>16/9/2023</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B266AB5F-3926-4318-A54A-334670480768}" type="slidenum">
              <a:rPr lang="es-AR" smtClean="0"/>
              <a:t>‹Nº›</a:t>
            </a:fld>
            <a:endParaRPr lang="es-AR"/>
          </a:p>
        </p:txBody>
      </p:sp>
    </p:spTree>
    <p:extLst>
      <p:ext uri="{BB962C8B-B14F-4D97-AF65-F5344CB8AC3E}">
        <p14:creationId xmlns:p14="http://schemas.microsoft.com/office/powerpoint/2010/main" val="11332728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7" name="Date Placeholder 3"/>
          <p:cNvSpPr>
            <a:spLocks noGrp="1"/>
          </p:cNvSpPr>
          <p:nvPr>
            <p:ph type="dt" sz="half" idx="10"/>
          </p:nvPr>
        </p:nvSpPr>
        <p:spPr/>
        <p:txBody>
          <a:bodyPr/>
          <a:lstStyle/>
          <a:p>
            <a:fld id="{139199AB-3286-4BEF-8864-68976EA0ED19}" type="datetimeFigureOut">
              <a:rPr lang="es-AR" smtClean="0"/>
              <a:t>16/9/2023</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B266AB5F-3926-4318-A54A-334670480768}" type="slidenum">
              <a:rPr lang="es-AR" smtClean="0"/>
              <a:t>‹Nº›</a:t>
            </a:fld>
            <a:endParaRPr lang="es-AR"/>
          </a:p>
        </p:txBody>
      </p:sp>
    </p:spTree>
    <p:extLst>
      <p:ext uri="{BB962C8B-B14F-4D97-AF65-F5344CB8AC3E}">
        <p14:creationId xmlns:p14="http://schemas.microsoft.com/office/powerpoint/2010/main" val="34297810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139199AB-3286-4BEF-8864-68976EA0ED19}" type="datetimeFigureOut">
              <a:rPr lang="es-AR" smtClean="0"/>
              <a:t>16/9/2023</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B266AB5F-3926-4318-A54A-334670480768}" type="slidenum">
              <a:rPr lang="es-AR" smtClean="0"/>
              <a:t>‹Nº›</a:t>
            </a:fld>
            <a:endParaRPr lang="es-AR"/>
          </a:p>
        </p:txBody>
      </p:sp>
    </p:spTree>
    <p:extLst>
      <p:ext uri="{BB962C8B-B14F-4D97-AF65-F5344CB8AC3E}">
        <p14:creationId xmlns:p14="http://schemas.microsoft.com/office/powerpoint/2010/main" val="34589057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Date Placeholder 4"/>
          <p:cNvSpPr>
            <a:spLocks noGrp="1"/>
          </p:cNvSpPr>
          <p:nvPr>
            <p:ph type="dt" sz="half" idx="10"/>
          </p:nvPr>
        </p:nvSpPr>
        <p:spPr/>
        <p:txBody>
          <a:bodyPr/>
          <a:lstStyle/>
          <a:p>
            <a:fld id="{139199AB-3286-4BEF-8864-68976EA0ED19}" type="datetimeFigureOut">
              <a:rPr lang="es-AR" smtClean="0"/>
              <a:t>16/9/2023</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B266AB5F-3926-4318-A54A-334670480768}" type="slidenum">
              <a:rPr lang="es-AR" smtClean="0"/>
              <a:t>‹Nº›</a:t>
            </a:fld>
            <a:endParaRPr lang="es-AR"/>
          </a:p>
        </p:txBody>
      </p:sp>
    </p:spTree>
    <p:extLst>
      <p:ext uri="{BB962C8B-B14F-4D97-AF65-F5344CB8AC3E}">
        <p14:creationId xmlns:p14="http://schemas.microsoft.com/office/powerpoint/2010/main" val="9925886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7" name="Date Placeholder 6"/>
          <p:cNvSpPr>
            <a:spLocks noGrp="1"/>
          </p:cNvSpPr>
          <p:nvPr>
            <p:ph type="dt" sz="half" idx="10"/>
          </p:nvPr>
        </p:nvSpPr>
        <p:spPr/>
        <p:txBody>
          <a:bodyPr/>
          <a:lstStyle/>
          <a:p>
            <a:fld id="{139199AB-3286-4BEF-8864-68976EA0ED19}" type="datetimeFigureOut">
              <a:rPr lang="es-AR" smtClean="0"/>
              <a:t>16/9/2023</a:t>
            </a:fld>
            <a:endParaRPr lang="es-AR"/>
          </a:p>
        </p:txBody>
      </p:sp>
      <p:sp>
        <p:nvSpPr>
          <p:cNvPr id="8" name="Footer Placeholder 7"/>
          <p:cNvSpPr>
            <a:spLocks noGrp="1"/>
          </p:cNvSpPr>
          <p:nvPr>
            <p:ph type="ftr" sz="quarter" idx="11"/>
          </p:nvPr>
        </p:nvSpPr>
        <p:spPr/>
        <p:txBody>
          <a:bodyPr/>
          <a:lstStyle/>
          <a:p>
            <a:endParaRPr lang="es-AR"/>
          </a:p>
        </p:txBody>
      </p:sp>
      <p:sp>
        <p:nvSpPr>
          <p:cNvPr id="9" name="Slide Number Placeholder 8"/>
          <p:cNvSpPr>
            <a:spLocks noGrp="1"/>
          </p:cNvSpPr>
          <p:nvPr>
            <p:ph type="sldNum" sz="quarter" idx="12"/>
          </p:nvPr>
        </p:nvSpPr>
        <p:spPr/>
        <p:txBody>
          <a:bodyPr/>
          <a:lstStyle/>
          <a:p>
            <a:fld id="{B266AB5F-3926-4318-A54A-334670480768}" type="slidenum">
              <a:rPr lang="es-AR" smtClean="0"/>
              <a:t>‹Nº›</a:t>
            </a:fld>
            <a:endParaRPr lang="es-AR"/>
          </a:p>
        </p:txBody>
      </p:sp>
    </p:spTree>
    <p:extLst>
      <p:ext uri="{BB962C8B-B14F-4D97-AF65-F5344CB8AC3E}">
        <p14:creationId xmlns:p14="http://schemas.microsoft.com/office/powerpoint/2010/main" val="22318192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7" name="Date Placeholder 2"/>
          <p:cNvSpPr>
            <a:spLocks noGrp="1"/>
          </p:cNvSpPr>
          <p:nvPr>
            <p:ph type="dt" sz="half" idx="10"/>
          </p:nvPr>
        </p:nvSpPr>
        <p:spPr/>
        <p:txBody>
          <a:bodyPr/>
          <a:lstStyle/>
          <a:p>
            <a:fld id="{139199AB-3286-4BEF-8864-68976EA0ED19}" type="datetimeFigureOut">
              <a:rPr lang="es-AR" smtClean="0"/>
              <a:t>16/9/2023</a:t>
            </a:fld>
            <a:endParaRPr lang="es-AR"/>
          </a:p>
        </p:txBody>
      </p:sp>
      <p:sp>
        <p:nvSpPr>
          <p:cNvPr id="5" name="Footer Placeholder 3"/>
          <p:cNvSpPr>
            <a:spLocks noGrp="1"/>
          </p:cNvSpPr>
          <p:nvPr>
            <p:ph type="ftr" sz="quarter" idx="11"/>
          </p:nvPr>
        </p:nvSpPr>
        <p:spPr/>
        <p:txBody>
          <a:bodyPr/>
          <a:lstStyle/>
          <a:p>
            <a:endParaRPr lang="es-AR"/>
          </a:p>
        </p:txBody>
      </p:sp>
      <p:sp>
        <p:nvSpPr>
          <p:cNvPr id="6" name="Slide Number Placeholder 4"/>
          <p:cNvSpPr>
            <a:spLocks noGrp="1"/>
          </p:cNvSpPr>
          <p:nvPr>
            <p:ph type="sldNum" sz="quarter" idx="12"/>
          </p:nvPr>
        </p:nvSpPr>
        <p:spPr/>
        <p:txBody>
          <a:bodyPr/>
          <a:lstStyle/>
          <a:p>
            <a:fld id="{B266AB5F-3926-4318-A54A-334670480768}" type="slidenum">
              <a:rPr lang="es-AR" smtClean="0"/>
              <a:t>‹Nº›</a:t>
            </a:fld>
            <a:endParaRPr lang="es-AR"/>
          </a:p>
        </p:txBody>
      </p:sp>
    </p:spTree>
    <p:extLst>
      <p:ext uri="{BB962C8B-B14F-4D97-AF65-F5344CB8AC3E}">
        <p14:creationId xmlns:p14="http://schemas.microsoft.com/office/powerpoint/2010/main" val="3214507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139199AB-3286-4BEF-8864-68976EA0ED19}" type="datetimeFigureOut">
              <a:rPr lang="es-AR" smtClean="0"/>
              <a:t>16/9/2023</a:t>
            </a:fld>
            <a:endParaRPr lang="es-AR"/>
          </a:p>
        </p:txBody>
      </p:sp>
      <p:sp>
        <p:nvSpPr>
          <p:cNvPr id="5" name="Footer Placeholder 2"/>
          <p:cNvSpPr>
            <a:spLocks noGrp="1"/>
          </p:cNvSpPr>
          <p:nvPr>
            <p:ph type="ftr" sz="quarter" idx="11"/>
          </p:nvPr>
        </p:nvSpPr>
        <p:spPr/>
        <p:txBody>
          <a:bodyPr/>
          <a:lstStyle/>
          <a:p>
            <a:endParaRPr lang="es-AR"/>
          </a:p>
        </p:txBody>
      </p:sp>
      <p:sp>
        <p:nvSpPr>
          <p:cNvPr id="6" name="Slide Number Placeholder 3"/>
          <p:cNvSpPr>
            <a:spLocks noGrp="1"/>
          </p:cNvSpPr>
          <p:nvPr>
            <p:ph type="sldNum" sz="quarter" idx="12"/>
          </p:nvPr>
        </p:nvSpPr>
        <p:spPr/>
        <p:txBody>
          <a:bodyPr/>
          <a:lstStyle/>
          <a:p>
            <a:fld id="{B266AB5F-3926-4318-A54A-334670480768}" type="slidenum">
              <a:rPr lang="es-AR" smtClean="0"/>
              <a:t>‹Nº›</a:t>
            </a:fld>
            <a:endParaRPr lang="es-AR"/>
          </a:p>
        </p:txBody>
      </p:sp>
    </p:spTree>
    <p:extLst>
      <p:ext uri="{BB962C8B-B14F-4D97-AF65-F5344CB8AC3E}">
        <p14:creationId xmlns:p14="http://schemas.microsoft.com/office/powerpoint/2010/main" val="6070757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s-ES" smtClean="0"/>
              <a:t>Haga clic para modificar el estilo de título del patrón</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7" name="Date Placeholder 4"/>
          <p:cNvSpPr>
            <a:spLocks noGrp="1"/>
          </p:cNvSpPr>
          <p:nvPr>
            <p:ph type="dt" sz="half" idx="10"/>
          </p:nvPr>
        </p:nvSpPr>
        <p:spPr/>
        <p:txBody>
          <a:bodyPr/>
          <a:lstStyle/>
          <a:p>
            <a:fld id="{139199AB-3286-4BEF-8864-68976EA0ED19}" type="datetimeFigureOut">
              <a:rPr lang="es-AR" smtClean="0"/>
              <a:t>16/9/2023</a:t>
            </a:fld>
            <a:endParaRPr lang="es-AR"/>
          </a:p>
        </p:txBody>
      </p:sp>
      <p:sp>
        <p:nvSpPr>
          <p:cNvPr id="5" name="Footer Placeholder 5"/>
          <p:cNvSpPr>
            <a:spLocks noGrp="1"/>
          </p:cNvSpPr>
          <p:nvPr>
            <p:ph type="ftr" sz="quarter" idx="11"/>
          </p:nvPr>
        </p:nvSpPr>
        <p:spPr/>
        <p:txBody>
          <a:bodyPr/>
          <a:lstStyle/>
          <a:p>
            <a:endParaRPr lang="es-AR"/>
          </a:p>
        </p:txBody>
      </p:sp>
      <p:sp>
        <p:nvSpPr>
          <p:cNvPr id="6" name="Slide Number Placeholder 6"/>
          <p:cNvSpPr>
            <a:spLocks noGrp="1"/>
          </p:cNvSpPr>
          <p:nvPr>
            <p:ph type="sldNum" sz="quarter" idx="12"/>
          </p:nvPr>
        </p:nvSpPr>
        <p:spPr/>
        <p:txBody>
          <a:bodyPr/>
          <a:lstStyle/>
          <a:p>
            <a:fld id="{B266AB5F-3926-4318-A54A-334670480768}" type="slidenum">
              <a:rPr lang="es-AR" smtClean="0"/>
              <a:t>‹Nº›</a:t>
            </a:fld>
            <a:endParaRPr lang="es-AR"/>
          </a:p>
        </p:txBody>
      </p:sp>
    </p:spTree>
    <p:extLst>
      <p:ext uri="{BB962C8B-B14F-4D97-AF65-F5344CB8AC3E}">
        <p14:creationId xmlns:p14="http://schemas.microsoft.com/office/powerpoint/2010/main" val="8249111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s-ES" smtClean="0"/>
              <a:t>Haga clic para modificar el estilo de título del patrón</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139199AB-3286-4BEF-8864-68976EA0ED19}" type="datetimeFigureOut">
              <a:rPr lang="es-AR" smtClean="0"/>
              <a:t>16/9/2023</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B266AB5F-3926-4318-A54A-334670480768}" type="slidenum">
              <a:rPr lang="es-AR" smtClean="0"/>
              <a:t>‹Nº›</a:t>
            </a:fld>
            <a:endParaRPr lang="es-AR"/>
          </a:p>
        </p:txBody>
      </p:sp>
    </p:spTree>
    <p:extLst>
      <p:ext uri="{BB962C8B-B14F-4D97-AF65-F5344CB8AC3E}">
        <p14:creationId xmlns:p14="http://schemas.microsoft.com/office/powerpoint/2010/main" val="19350837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s-ES" smtClean="0"/>
              <a:t>Haga clic para modificar el estilo de título del patrón</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139199AB-3286-4BEF-8864-68976EA0ED19}" type="datetimeFigureOut">
              <a:rPr lang="es-AR" smtClean="0"/>
              <a:t>16/9/2023</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B266AB5F-3926-4318-A54A-334670480768}" type="slidenum">
              <a:rPr lang="es-AR" smtClean="0"/>
              <a:t>‹Nº›</a:t>
            </a:fld>
            <a:endParaRPr lang="es-AR"/>
          </a:p>
        </p:txBody>
      </p:sp>
    </p:spTree>
    <p:extLst>
      <p:ext uri="{BB962C8B-B14F-4D97-AF65-F5344CB8AC3E}">
        <p14:creationId xmlns:p14="http://schemas.microsoft.com/office/powerpoint/2010/main" val="14035675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s-ES" smtClean="0"/>
              <a:t>Haga clic para modificar el estilo de título del patrón</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139199AB-3286-4BEF-8864-68976EA0ED19}" type="datetimeFigureOut">
              <a:rPr lang="es-AR" smtClean="0"/>
              <a:t>16/9/2023</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B266AB5F-3926-4318-A54A-334670480768}" type="slidenum">
              <a:rPr lang="es-AR" smtClean="0"/>
              <a:t>‹Nº›</a:t>
            </a:fld>
            <a:endParaRPr lang="es-AR"/>
          </a:p>
        </p:txBody>
      </p:sp>
    </p:spTree>
    <p:extLst>
      <p:ext uri="{BB962C8B-B14F-4D97-AF65-F5344CB8AC3E}">
        <p14:creationId xmlns:p14="http://schemas.microsoft.com/office/powerpoint/2010/main" val="21751804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s-ES" smtClean="0"/>
              <a:t>Haga clic para modificar el estilo de título del patrón</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s-ES" smtClean="0"/>
              <a:t>Haga clic para modificar el estilo de texto del patrón</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139199AB-3286-4BEF-8864-68976EA0ED19}" type="datetimeFigureOut">
              <a:rPr lang="es-AR" smtClean="0"/>
              <a:t>16/9/2023</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B266AB5F-3926-4318-A54A-334670480768}" type="slidenum">
              <a:rPr lang="es-AR" smtClean="0"/>
              <a:t>‹Nº›</a:t>
            </a:fld>
            <a:endParaRPr lang="es-AR"/>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73153066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139199AB-3286-4BEF-8864-68976EA0ED19}" type="datetimeFigureOut">
              <a:rPr lang="es-AR" smtClean="0"/>
              <a:t>16/9/2023</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B266AB5F-3926-4318-A54A-334670480768}" type="slidenum">
              <a:rPr lang="es-AR" smtClean="0"/>
              <a:t>‹Nº›</a:t>
            </a:fld>
            <a:endParaRPr lang="es-AR"/>
          </a:p>
        </p:txBody>
      </p:sp>
    </p:spTree>
    <p:extLst>
      <p:ext uri="{BB962C8B-B14F-4D97-AF65-F5344CB8AC3E}">
        <p14:creationId xmlns:p14="http://schemas.microsoft.com/office/powerpoint/2010/main" val="38998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139199AB-3286-4BEF-8864-68976EA0ED19}" type="datetimeFigureOut">
              <a:rPr lang="es-AR" smtClean="0"/>
              <a:t>16/9/2023</a:t>
            </a:fld>
            <a:endParaRPr lang="es-AR"/>
          </a:p>
        </p:txBody>
      </p:sp>
      <p:sp>
        <p:nvSpPr>
          <p:cNvPr id="4"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B266AB5F-3926-4318-A54A-334670480768}" type="slidenum">
              <a:rPr lang="es-AR" smtClean="0"/>
              <a:t>‹Nº›</a:t>
            </a:fld>
            <a:endParaRPr lang="es-AR"/>
          </a:p>
        </p:txBody>
      </p:sp>
    </p:spTree>
    <p:extLst>
      <p:ext uri="{BB962C8B-B14F-4D97-AF65-F5344CB8AC3E}">
        <p14:creationId xmlns:p14="http://schemas.microsoft.com/office/powerpoint/2010/main" val="19766098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139199AB-3286-4BEF-8864-68976EA0ED19}" type="datetimeFigureOut">
              <a:rPr lang="es-AR" smtClean="0"/>
              <a:t>16/9/2023</a:t>
            </a:fld>
            <a:endParaRPr lang="es-AR"/>
          </a:p>
        </p:txBody>
      </p:sp>
      <p:sp>
        <p:nvSpPr>
          <p:cNvPr id="4"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B266AB5F-3926-4318-A54A-334670480768}" type="slidenum">
              <a:rPr lang="es-AR" smtClean="0"/>
              <a:t>‹Nº›</a:t>
            </a:fld>
            <a:endParaRPr lang="es-AR"/>
          </a:p>
        </p:txBody>
      </p:sp>
    </p:spTree>
    <p:extLst>
      <p:ext uri="{BB962C8B-B14F-4D97-AF65-F5344CB8AC3E}">
        <p14:creationId xmlns:p14="http://schemas.microsoft.com/office/powerpoint/2010/main" val="7437467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nchorCtr="0"/>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139199AB-3286-4BEF-8864-68976EA0ED19}" type="datetimeFigureOut">
              <a:rPr lang="es-AR" smtClean="0"/>
              <a:t>16/9/2023</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B266AB5F-3926-4318-A54A-334670480768}" type="slidenum">
              <a:rPr lang="es-AR" smtClean="0"/>
              <a:t>‹Nº›</a:t>
            </a:fld>
            <a:endParaRPr lang="es-AR"/>
          </a:p>
        </p:txBody>
      </p:sp>
    </p:spTree>
    <p:extLst>
      <p:ext uri="{BB962C8B-B14F-4D97-AF65-F5344CB8AC3E}">
        <p14:creationId xmlns:p14="http://schemas.microsoft.com/office/powerpoint/2010/main" val="57372282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139199AB-3286-4BEF-8864-68976EA0ED19}" type="datetimeFigureOut">
              <a:rPr lang="es-AR" smtClean="0"/>
              <a:t>16/9/2023</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B266AB5F-3926-4318-A54A-334670480768}" type="slidenum">
              <a:rPr lang="es-AR" smtClean="0"/>
              <a:t>‹Nº›</a:t>
            </a:fld>
            <a:endParaRPr lang="es-AR"/>
          </a:p>
        </p:txBody>
      </p:sp>
    </p:spTree>
    <p:extLst>
      <p:ext uri="{BB962C8B-B14F-4D97-AF65-F5344CB8AC3E}">
        <p14:creationId xmlns:p14="http://schemas.microsoft.com/office/powerpoint/2010/main" val="30302050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139199AB-3286-4BEF-8864-68976EA0ED19}" type="datetimeFigureOut">
              <a:rPr lang="es-AR" smtClean="0"/>
              <a:t>16/9/2023</a:t>
            </a:fld>
            <a:endParaRPr lang="es-AR"/>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s-AR"/>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B266AB5F-3926-4318-A54A-334670480768}" type="slidenum">
              <a:rPr lang="es-AR" smtClean="0"/>
              <a:t>‹Nº›</a:t>
            </a:fld>
            <a:endParaRPr lang="es-AR"/>
          </a:p>
        </p:txBody>
      </p:sp>
    </p:spTree>
    <p:extLst>
      <p:ext uri="{BB962C8B-B14F-4D97-AF65-F5344CB8AC3E}">
        <p14:creationId xmlns:p14="http://schemas.microsoft.com/office/powerpoint/2010/main" val="3282022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hyperlink" Target="https://es.wikipedia.org/wiki/Radiaci%C3%B3n_ultravioleta_extrema"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idx="4294967295"/>
          </p:nvPr>
        </p:nvSpPr>
        <p:spPr>
          <a:xfrm>
            <a:off x="-1" y="452438"/>
            <a:ext cx="11954933" cy="6196718"/>
          </a:xfrm>
        </p:spPr>
        <p:txBody>
          <a:bodyPr/>
          <a:lstStyle/>
          <a:p>
            <a:pPr algn="ctr"/>
            <a:r>
              <a:rPr lang="es-AR" dirty="0" smtClean="0"/>
              <a:t/>
            </a:r>
            <a:br>
              <a:rPr lang="es-AR" dirty="0" smtClean="0"/>
            </a:br>
            <a:r>
              <a:rPr lang="es-AR" dirty="0"/>
              <a:t/>
            </a:r>
            <a:br>
              <a:rPr lang="es-AR" dirty="0"/>
            </a:br>
            <a:r>
              <a:rPr lang="es-AR" dirty="0" smtClean="0"/>
              <a:t/>
            </a:r>
            <a:br>
              <a:rPr lang="es-AR" dirty="0" smtClean="0"/>
            </a:br>
            <a:r>
              <a:rPr lang="es-AR" dirty="0"/>
              <a:t/>
            </a:r>
            <a:br>
              <a:rPr lang="es-AR" dirty="0"/>
            </a:br>
            <a:r>
              <a:rPr lang="es-AR" sz="7200" dirty="0" smtClean="0"/>
              <a:t>OPTOELECTRÓNICA</a:t>
            </a:r>
            <a:endParaRPr lang="es-AR" sz="7200" dirty="0"/>
          </a:p>
        </p:txBody>
      </p:sp>
    </p:spTree>
    <p:extLst>
      <p:ext uri="{BB962C8B-B14F-4D97-AF65-F5344CB8AC3E}">
        <p14:creationId xmlns:p14="http://schemas.microsoft.com/office/powerpoint/2010/main" val="31865986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a:blip r:embed="rId2"/>
          <a:stretch>
            <a:fillRect/>
          </a:stretch>
        </p:blipFill>
        <p:spPr>
          <a:xfrm>
            <a:off x="316089" y="383822"/>
            <a:ext cx="11571111" cy="6242756"/>
          </a:xfrm>
          <a:prstGeom prst="rect">
            <a:avLst/>
          </a:prstGeom>
        </p:spPr>
      </p:pic>
    </p:spTree>
    <p:extLst>
      <p:ext uri="{BB962C8B-B14F-4D97-AF65-F5344CB8AC3E}">
        <p14:creationId xmlns:p14="http://schemas.microsoft.com/office/powerpoint/2010/main" val="26161586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237067" y="225778"/>
            <a:ext cx="11740444" cy="6513689"/>
          </a:xfrm>
          <a:prstGeom prst="rect">
            <a:avLst/>
          </a:prstGeom>
        </p:spPr>
      </p:pic>
    </p:spTree>
    <p:extLst>
      <p:ext uri="{BB962C8B-B14F-4D97-AF65-F5344CB8AC3E}">
        <p14:creationId xmlns:p14="http://schemas.microsoft.com/office/powerpoint/2010/main" val="28635008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259644" y="338667"/>
            <a:ext cx="11627556" cy="6299199"/>
          </a:xfrm>
          <a:prstGeom prst="rect">
            <a:avLst/>
          </a:prstGeom>
        </p:spPr>
      </p:pic>
    </p:spTree>
    <p:extLst>
      <p:ext uri="{BB962C8B-B14F-4D97-AF65-F5344CB8AC3E}">
        <p14:creationId xmlns:p14="http://schemas.microsoft.com/office/powerpoint/2010/main" val="39969448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316088" y="282221"/>
            <a:ext cx="11571111" cy="6355645"/>
          </a:xfrm>
          <a:prstGeom prst="rect">
            <a:avLst/>
          </a:prstGeom>
        </p:spPr>
      </p:pic>
    </p:spTree>
    <p:extLst>
      <p:ext uri="{BB962C8B-B14F-4D97-AF65-F5344CB8AC3E}">
        <p14:creationId xmlns:p14="http://schemas.microsoft.com/office/powerpoint/2010/main" val="16516564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361244" y="316089"/>
            <a:ext cx="11514667" cy="6310489"/>
          </a:xfrm>
          <a:prstGeom prst="rect">
            <a:avLst/>
          </a:prstGeom>
        </p:spPr>
      </p:pic>
    </p:spTree>
    <p:extLst>
      <p:ext uri="{BB962C8B-B14F-4D97-AF65-F5344CB8AC3E}">
        <p14:creationId xmlns:p14="http://schemas.microsoft.com/office/powerpoint/2010/main" val="23459806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Rectángulo 2"/>
              <p:cNvSpPr/>
              <p:nvPr/>
            </p:nvSpPr>
            <p:spPr>
              <a:xfrm>
                <a:off x="1792401" y="1972001"/>
                <a:ext cx="4985980" cy="1558183"/>
              </a:xfrm>
              <a:prstGeom prst="rect">
                <a:avLst/>
              </a:prstGeom>
            </p:spPr>
            <p:txBody>
              <a:bodyPr wrap="none">
                <a:spAutoFit/>
              </a:bodyPr>
              <a:lstStyle/>
              <a:p>
                <a:endParaRPr lang="es-AR" i="1" dirty="0" smtClean="0">
                  <a:latin typeface="Cambria Math" panose="02040503050406030204" pitchFamily="18" charset="0"/>
                </a:endParaRPr>
              </a:p>
              <a:p>
                <a:r>
                  <a:rPr lang="es-AR" sz="3200" b="1" i="1" u="sng" dirty="0" smtClean="0">
                    <a:latin typeface="Cambria Math" panose="02040503050406030204" pitchFamily="18" charset="0"/>
                  </a:rPr>
                  <a:t>Semiconductor Simple</a:t>
                </a:r>
              </a:p>
              <a:p>
                <a14:m>
                  <m:oMath xmlns:m="http://schemas.openxmlformats.org/officeDocument/2006/math">
                    <m:r>
                      <m:rPr>
                        <m:sty m:val="p"/>
                      </m:rPr>
                      <a:rPr lang="el-GR" sz="3200" i="1" smtClean="0">
                        <a:latin typeface="Cambria Math" panose="02040503050406030204" pitchFamily="18" charset="0"/>
                      </a:rPr>
                      <m:t>λ</m:t>
                    </m:r>
                    <m:r>
                      <a:rPr lang="es-AR" sz="3200" i="1">
                        <a:latin typeface="Cambria Math" panose="02040503050406030204" pitchFamily="18" charset="0"/>
                      </a:rPr>
                      <m:t> </m:t>
                    </m:r>
                    <m:d>
                      <m:dPr>
                        <m:ctrlPr>
                          <a:rPr lang="es-AR" sz="3200" i="1">
                            <a:latin typeface="Cambria Math" panose="02040503050406030204" pitchFamily="18" charset="0"/>
                          </a:rPr>
                        </m:ctrlPr>
                      </m:dPr>
                      <m:e>
                        <m:r>
                          <a:rPr lang="es-AR" sz="3200" b="0" i="1" smtClean="0">
                            <a:latin typeface="Cambria Math" panose="02040503050406030204" pitchFamily="18" charset="0"/>
                          </a:rPr>
                          <m:t>𝑆𝑖</m:t>
                        </m:r>
                        <m:r>
                          <a:rPr lang="es-AR" sz="3200" b="0" i="1" smtClean="0">
                            <a:latin typeface="Cambria Math" panose="02040503050406030204" pitchFamily="18" charset="0"/>
                          </a:rPr>
                          <m:t>) (</m:t>
                        </m:r>
                        <m:r>
                          <a:rPr lang="es-AR" sz="3200" i="1">
                            <a:latin typeface="Cambria Math" panose="02040503050406030204" pitchFamily="18" charset="0"/>
                          </a:rPr>
                          <m:t>𝑛𝑚</m:t>
                        </m:r>
                      </m:e>
                    </m:d>
                    <m:r>
                      <a:rPr lang="es-AR" sz="3200" i="1">
                        <a:latin typeface="Cambria Math" panose="02040503050406030204" pitchFamily="18" charset="0"/>
                      </a:rPr>
                      <m:t>=</m:t>
                    </m:r>
                    <m:f>
                      <m:fPr>
                        <m:ctrlPr>
                          <a:rPr lang="es-AR" sz="3200" i="1">
                            <a:latin typeface="Cambria Math" panose="02040503050406030204" pitchFamily="18" charset="0"/>
                          </a:rPr>
                        </m:ctrlPr>
                      </m:fPr>
                      <m:num>
                        <m:r>
                          <a:rPr lang="es-AR" sz="3200" i="1">
                            <a:latin typeface="Cambria Math" panose="02040503050406030204" pitchFamily="18" charset="0"/>
                          </a:rPr>
                          <m:t>1240</m:t>
                        </m:r>
                        <m:r>
                          <a:rPr lang="es-AR" sz="3200" b="0" i="1" smtClean="0">
                            <a:latin typeface="Cambria Math" panose="02040503050406030204" pitchFamily="18" charset="0"/>
                          </a:rPr>
                          <m:t> </m:t>
                        </m:r>
                      </m:num>
                      <m:den>
                        <m:r>
                          <a:rPr lang="es-AR" sz="3200" b="0" i="1" smtClean="0">
                            <a:latin typeface="Cambria Math" panose="02040503050406030204" pitchFamily="18" charset="0"/>
                          </a:rPr>
                          <m:t>1.1</m:t>
                        </m:r>
                      </m:den>
                    </m:f>
                  </m:oMath>
                </a14:m>
                <a:r>
                  <a:rPr lang="es-AR" sz="3200" dirty="0" smtClean="0"/>
                  <a:t> = 1127 </a:t>
                </a:r>
                <a:endParaRPr lang="es-AR" sz="3200" dirty="0"/>
              </a:p>
            </p:txBody>
          </p:sp>
        </mc:Choice>
        <mc:Fallback xmlns="">
          <p:sp>
            <p:nvSpPr>
              <p:cNvPr id="3" name="Rectángulo 2"/>
              <p:cNvSpPr>
                <a:spLocks noRot="1" noChangeAspect="1" noMove="1" noResize="1" noEditPoints="1" noAdjustHandles="1" noChangeArrowheads="1" noChangeShapeType="1" noTextEdit="1"/>
              </p:cNvSpPr>
              <p:nvPr/>
            </p:nvSpPr>
            <p:spPr>
              <a:xfrm>
                <a:off x="1792401" y="1972001"/>
                <a:ext cx="4985980" cy="1558183"/>
              </a:xfrm>
              <a:prstGeom prst="rect">
                <a:avLst/>
              </a:prstGeom>
              <a:blipFill rotWithShape="0">
                <a:blip r:embed="rId2"/>
                <a:stretch>
                  <a:fillRect l="-3056" r="-2200" b="-4688"/>
                </a:stretch>
              </a:blipFill>
            </p:spPr>
            <p:txBody>
              <a:bodyPr/>
              <a:lstStyle/>
              <a:p>
                <a:r>
                  <a:rPr lang="es-AR">
                    <a:noFill/>
                  </a:rPr>
                  <a:t> </a:t>
                </a:r>
              </a:p>
            </p:txBody>
          </p:sp>
        </mc:Fallback>
      </mc:AlternateContent>
      <p:cxnSp>
        <p:nvCxnSpPr>
          <p:cNvPr id="5" name="Conector recto de flecha 4"/>
          <p:cNvCxnSpPr/>
          <p:nvPr/>
        </p:nvCxnSpPr>
        <p:spPr>
          <a:xfrm>
            <a:off x="7248840" y="2909370"/>
            <a:ext cx="19304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Rectángulo redondeado 5"/>
          <p:cNvSpPr/>
          <p:nvPr/>
        </p:nvSpPr>
        <p:spPr>
          <a:xfrm>
            <a:off x="9384869" y="2667348"/>
            <a:ext cx="1219200" cy="48404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dirty="0" smtClean="0"/>
              <a:t>IR - A</a:t>
            </a:r>
            <a:endParaRPr lang="es-AR" dirty="0"/>
          </a:p>
        </p:txBody>
      </p:sp>
      <mc:AlternateContent xmlns:mc="http://schemas.openxmlformats.org/markup-compatibility/2006" xmlns:a14="http://schemas.microsoft.com/office/drawing/2010/main">
        <mc:Choice Requires="a14">
          <p:sp>
            <p:nvSpPr>
              <p:cNvPr id="7" name="Rectángulo 6"/>
              <p:cNvSpPr/>
              <p:nvPr/>
            </p:nvSpPr>
            <p:spPr>
              <a:xfrm>
                <a:off x="1792401" y="3107957"/>
                <a:ext cx="5030095" cy="2798908"/>
              </a:xfrm>
              <a:prstGeom prst="rect">
                <a:avLst/>
              </a:prstGeom>
            </p:spPr>
            <p:txBody>
              <a:bodyPr wrap="none">
                <a:spAutoFit/>
              </a:bodyPr>
              <a:lstStyle/>
              <a:p>
                <a:endParaRPr lang="es-AR" sz="3200" i="1" dirty="0" smtClean="0">
                  <a:latin typeface="Cambria Math" panose="02040503050406030204" pitchFamily="18" charset="0"/>
                </a:endParaRPr>
              </a:p>
              <a:p>
                <a:endParaRPr lang="es-AR" sz="3200" i="1" dirty="0" smtClean="0">
                  <a:latin typeface="Cambria Math" panose="02040503050406030204" pitchFamily="18" charset="0"/>
                </a:endParaRPr>
              </a:p>
              <a:p>
                <a:endParaRPr lang="es-AR" sz="3200" i="1" dirty="0" smtClean="0">
                  <a:latin typeface="Cambria Math" panose="02040503050406030204" pitchFamily="18" charset="0"/>
                </a:endParaRPr>
              </a:p>
              <a:p>
                <a:r>
                  <a:rPr lang="es-AR" sz="3200" b="1" i="1" u="sng" dirty="0" smtClean="0">
                    <a:latin typeface="Cambria Math" panose="02040503050406030204" pitchFamily="18" charset="0"/>
                  </a:rPr>
                  <a:t>Semiconductor Simple</a:t>
                </a:r>
              </a:p>
              <a:p>
                <a14:m>
                  <m:oMath xmlns:m="http://schemas.openxmlformats.org/officeDocument/2006/math">
                    <m:r>
                      <m:rPr>
                        <m:sty m:val="p"/>
                      </m:rPr>
                      <a:rPr lang="el-GR" sz="3200" i="1" smtClean="0">
                        <a:latin typeface="Cambria Math" panose="02040503050406030204" pitchFamily="18" charset="0"/>
                      </a:rPr>
                      <m:t>λ</m:t>
                    </m:r>
                    <m:r>
                      <a:rPr lang="es-AR" sz="3200" i="1">
                        <a:latin typeface="Cambria Math" panose="02040503050406030204" pitchFamily="18" charset="0"/>
                      </a:rPr>
                      <m:t> </m:t>
                    </m:r>
                    <m:d>
                      <m:dPr>
                        <m:ctrlPr>
                          <a:rPr lang="es-AR" sz="3200" i="1">
                            <a:latin typeface="Cambria Math" panose="02040503050406030204" pitchFamily="18" charset="0"/>
                          </a:rPr>
                        </m:ctrlPr>
                      </m:dPr>
                      <m:e>
                        <m:r>
                          <a:rPr lang="es-AR" sz="3200" b="0" i="1" smtClean="0">
                            <a:latin typeface="Cambria Math" panose="02040503050406030204" pitchFamily="18" charset="0"/>
                          </a:rPr>
                          <m:t>𝐺𝑒</m:t>
                        </m:r>
                        <m:r>
                          <a:rPr lang="es-AR" sz="3200" i="1">
                            <a:latin typeface="Cambria Math" panose="02040503050406030204" pitchFamily="18" charset="0"/>
                          </a:rPr>
                          <m:t>) (</m:t>
                        </m:r>
                        <m:r>
                          <a:rPr lang="es-AR" sz="3200" i="1">
                            <a:latin typeface="Cambria Math" panose="02040503050406030204" pitchFamily="18" charset="0"/>
                          </a:rPr>
                          <m:t>𝑛𝑚</m:t>
                        </m:r>
                      </m:e>
                    </m:d>
                    <m:r>
                      <a:rPr lang="es-AR" sz="3200" i="1">
                        <a:latin typeface="Cambria Math" panose="02040503050406030204" pitchFamily="18" charset="0"/>
                      </a:rPr>
                      <m:t>=</m:t>
                    </m:r>
                    <m:f>
                      <m:fPr>
                        <m:ctrlPr>
                          <a:rPr lang="es-AR" sz="3200" i="1">
                            <a:latin typeface="Cambria Math" panose="02040503050406030204" pitchFamily="18" charset="0"/>
                          </a:rPr>
                        </m:ctrlPr>
                      </m:fPr>
                      <m:num>
                        <m:r>
                          <a:rPr lang="es-AR" sz="3200" i="1">
                            <a:latin typeface="Cambria Math" panose="02040503050406030204" pitchFamily="18" charset="0"/>
                          </a:rPr>
                          <m:t>1240</m:t>
                        </m:r>
                      </m:num>
                      <m:den>
                        <m:r>
                          <a:rPr lang="es-AR" sz="3200" b="0" i="1" smtClean="0">
                            <a:latin typeface="Cambria Math" panose="02040503050406030204" pitchFamily="18" charset="0"/>
                          </a:rPr>
                          <m:t>0,72</m:t>
                        </m:r>
                      </m:den>
                    </m:f>
                  </m:oMath>
                </a14:m>
                <a:r>
                  <a:rPr lang="es-AR" sz="3200" dirty="0"/>
                  <a:t> = </a:t>
                </a:r>
                <a:r>
                  <a:rPr lang="es-AR" sz="3200" dirty="0" smtClean="0"/>
                  <a:t>1722 </a:t>
                </a:r>
                <a:endParaRPr lang="es-AR" sz="3200" dirty="0"/>
              </a:p>
            </p:txBody>
          </p:sp>
        </mc:Choice>
        <mc:Fallback xmlns="">
          <p:sp>
            <p:nvSpPr>
              <p:cNvPr id="7" name="Rectángulo 6"/>
              <p:cNvSpPr>
                <a:spLocks noRot="1" noChangeAspect="1" noMove="1" noResize="1" noEditPoints="1" noAdjustHandles="1" noChangeArrowheads="1" noChangeShapeType="1" noTextEdit="1"/>
              </p:cNvSpPr>
              <p:nvPr/>
            </p:nvSpPr>
            <p:spPr>
              <a:xfrm>
                <a:off x="1792401" y="3107957"/>
                <a:ext cx="5030095" cy="2798908"/>
              </a:xfrm>
              <a:prstGeom prst="rect">
                <a:avLst/>
              </a:prstGeom>
              <a:blipFill rotWithShape="0">
                <a:blip r:embed="rId3"/>
                <a:stretch>
                  <a:fillRect l="-3030" r="-2182" b="-871"/>
                </a:stretch>
              </a:blipFill>
            </p:spPr>
            <p:txBody>
              <a:bodyPr/>
              <a:lstStyle/>
              <a:p>
                <a:r>
                  <a:rPr lang="es-AR">
                    <a:noFill/>
                  </a:rPr>
                  <a:t> </a:t>
                </a:r>
              </a:p>
            </p:txBody>
          </p:sp>
        </mc:Fallback>
      </mc:AlternateContent>
      <p:cxnSp>
        <p:nvCxnSpPr>
          <p:cNvPr id="9" name="Conector recto de flecha 8"/>
          <p:cNvCxnSpPr/>
          <p:nvPr/>
        </p:nvCxnSpPr>
        <p:spPr>
          <a:xfrm>
            <a:off x="7353338" y="5466703"/>
            <a:ext cx="203153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Rectángulo redondeado 9"/>
          <p:cNvSpPr/>
          <p:nvPr/>
        </p:nvSpPr>
        <p:spPr>
          <a:xfrm>
            <a:off x="9465368" y="5224681"/>
            <a:ext cx="1219200" cy="48404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dirty="0" smtClean="0"/>
              <a:t>IR - B</a:t>
            </a:r>
            <a:endParaRPr lang="es-AR" dirty="0"/>
          </a:p>
        </p:txBody>
      </p:sp>
      <mc:AlternateContent xmlns:mc="http://schemas.openxmlformats.org/markup-compatibility/2006" xmlns:a14="http://schemas.microsoft.com/office/drawing/2010/main">
        <mc:Choice Requires="a14">
          <p:sp>
            <p:nvSpPr>
              <p:cNvPr id="11" name="Rectángulo 10"/>
              <p:cNvSpPr/>
              <p:nvPr/>
            </p:nvSpPr>
            <p:spPr>
              <a:xfrm>
                <a:off x="3677645" y="443980"/>
                <a:ext cx="4134266" cy="1528021"/>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m:rPr>
                          <m:sty m:val="p"/>
                        </m:rPr>
                        <a:rPr lang="el-GR" sz="3200" i="1">
                          <a:latin typeface="Cambria Math" panose="02040503050406030204" pitchFamily="18" charset="0"/>
                        </a:rPr>
                        <m:t>λ</m:t>
                      </m:r>
                      <m:r>
                        <a:rPr lang="es-AR" sz="3200" i="1">
                          <a:latin typeface="Cambria Math" panose="02040503050406030204" pitchFamily="18" charset="0"/>
                        </a:rPr>
                        <m:t> </m:t>
                      </m:r>
                      <m:d>
                        <m:dPr>
                          <m:ctrlPr>
                            <a:rPr lang="es-AR" sz="3200" i="1">
                              <a:latin typeface="Cambria Math" panose="02040503050406030204" pitchFamily="18" charset="0"/>
                            </a:rPr>
                          </m:ctrlPr>
                        </m:dPr>
                        <m:e>
                          <m:r>
                            <a:rPr lang="es-AR" sz="3200" i="1">
                              <a:latin typeface="Cambria Math" panose="02040503050406030204" pitchFamily="18" charset="0"/>
                            </a:rPr>
                            <m:t>𝑛𝑚</m:t>
                          </m:r>
                        </m:e>
                      </m:d>
                      <m:r>
                        <a:rPr lang="es-AR" sz="3200" i="1">
                          <a:latin typeface="Cambria Math" panose="02040503050406030204" pitchFamily="18" charset="0"/>
                        </a:rPr>
                        <m:t>=</m:t>
                      </m:r>
                      <m:f>
                        <m:fPr>
                          <m:ctrlPr>
                            <a:rPr lang="es-AR" sz="3200" i="1">
                              <a:latin typeface="Cambria Math" panose="02040503050406030204" pitchFamily="18" charset="0"/>
                            </a:rPr>
                          </m:ctrlPr>
                        </m:fPr>
                        <m:num>
                          <m:r>
                            <a:rPr lang="es-AR" sz="3200" i="1">
                              <a:latin typeface="Cambria Math" panose="02040503050406030204" pitchFamily="18" charset="0"/>
                            </a:rPr>
                            <m:t>1240</m:t>
                          </m:r>
                        </m:num>
                        <m:den>
                          <m:r>
                            <m:rPr>
                              <m:sty m:val="p"/>
                            </m:rPr>
                            <a:rPr lang="el-GR" sz="3200" i="1">
                              <a:latin typeface="Cambria Math" panose="02040503050406030204" pitchFamily="18" charset="0"/>
                            </a:rPr>
                            <m:t>Δ</m:t>
                          </m:r>
                          <m:r>
                            <a:rPr lang="es-AR" sz="3200" i="1">
                              <a:latin typeface="Cambria Math" panose="02040503050406030204" pitchFamily="18" charset="0"/>
                            </a:rPr>
                            <m:t> </m:t>
                          </m:r>
                          <m:r>
                            <a:rPr lang="es-AR" sz="3200" i="1">
                              <a:latin typeface="Cambria Math" panose="02040503050406030204" pitchFamily="18" charset="0"/>
                            </a:rPr>
                            <m:t>𝐸</m:t>
                          </m:r>
                        </m:den>
                      </m:f>
                    </m:oMath>
                  </m:oMathPara>
                </a14:m>
                <a:endParaRPr lang="es-AR" sz="3200" dirty="0"/>
              </a:p>
            </p:txBody>
          </p:sp>
        </mc:Choice>
        <mc:Fallback xmlns="">
          <p:sp>
            <p:nvSpPr>
              <p:cNvPr id="11" name="Rectángulo 10"/>
              <p:cNvSpPr>
                <a:spLocks noRot="1" noChangeAspect="1" noMove="1" noResize="1" noEditPoints="1" noAdjustHandles="1" noChangeArrowheads="1" noChangeShapeType="1" noTextEdit="1"/>
              </p:cNvSpPr>
              <p:nvPr/>
            </p:nvSpPr>
            <p:spPr>
              <a:xfrm>
                <a:off x="3677645" y="443980"/>
                <a:ext cx="4134266" cy="1528021"/>
              </a:xfrm>
              <a:prstGeom prst="rect">
                <a:avLst/>
              </a:prstGeom>
              <a:blipFill rotWithShape="0">
                <a:blip r:embed="rId4"/>
                <a:stretch>
                  <a:fillRect/>
                </a:stretch>
              </a:blipFill>
            </p:spPr>
            <p:txBody>
              <a:bodyPr/>
              <a:lstStyle/>
              <a:p>
                <a:r>
                  <a:rPr lang="es-AR">
                    <a:noFill/>
                  </a:rPr>
                  <a:t> </a:t>
                </a:r>
              </a:p>
            </p:txBody>
          </p:sp>
        </mc:Fallback>
      </mc:AlternateContent>
    </p:spTree>
    <p:extLst>
      <p:ext uri="{BB962C8B-B14F-4D97-AF65-F5344CB8AC3E}">
        <p14:creationId xmlns:p14="http://schemas.microsoft.com/office/powerpoint/2010/main" val="19848279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349957" y="304800"/>
            <a:ext cx="11548532" cy="6299200"/>
          </a:xfrm>
          <a:prstGeom prst="rect">
            <a:avLst/>
          </a:prstGeom>
        </p:spPr>
      </p:pic>
    </p:spTree>
    <p:extLst>
      <p:ext uri="{BB962C8B-B14F-4D97-AF65-F5344CB8AC3E}">
        <p14:creationId xmlns:p14="http://schemas.microsoft.com/office/powerpoint/2010/main" val="7124790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Respuesta espectral percibida por el ojo humano representada en la curva fotópica y la curva escotópica Una vez analizados los diferentes espectros de la luz artificial sobre el territorio a partir de las imágenes CASI se comprueba que no toda la radiación de las lámparas es aprovechada por la visión del ojo humano. Para estudiar cuál es la cantidad de radiación que detecta la visión humana nocturna se han calculado las curvas fotópica y escotópica a partir de la señal CASI. El área de la sensibilidad para los dos tipos de visión ha sido calculada integrando cada curva con la parte común de las 96 bandas de la imagen hiperespectral tomada a 1500 metros de altura sobre la ciudad de Tarragona y transformado las radiancias a luminancias en unidades de candela (cd m -2 ). En la primera imagen de la figura 6 se muestra una subescena de la ciudad de Tarragona según la curva de la visión fotópica. Se puede observar que buena parte de la señal de las lámparas artificiales se encuentra en mayor o menor medida dentro de esta curva. Así los valores altos de luminancias son representados en los tonos más blancos, los tonos grises corresponden a luminancias inferiores a 6 cd m -2 , mientras que los tonos negros representan las zonas no iluminadas. La segunda imagen es la misma zona pero calculando las luminancias para la curva escotópica. En este caso sólo algunas lámparas tiene luminancias más intensas que en la primera imagen, constatando que es en estas lámparas donde hay una radiación más alta en la parte azul del espectro.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9957" y="282222"/>
            <a:ext cx="11356622" cy="6299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8225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a 3"/>
          <p:cNvGraphicFramePr>
            <a:graphicFrameLocks noGrp="1"/>
          </p:cNvGraphicFramePr>
          <p:nvPr>
            <p:extLst>
              <p:ext uri="{D42A27DB-BD31-4B8C-83A1-F6EECF244321}">
                <p14:modId xmlns:p14="http://schemas.microsoft.com/office/powerpoint/2010/main" val="749090339"/>
              </p:ext>
            </p:extLst>
          </p:nvPr>
        </p:nvGraphicFramePr>
        <p:xfrm>
          <a:off x="745068" y="530576"/>
          <a:ext cx="10848620" cy="5751690"/>
        </p:xfrm>
        <a:graphic>
          <a:graphicData uri="http://schemas.openxmlformats.org/drawingml/2006/table">
            <a:tbl>
              <a:tblPr firstRow="1" bandRow="1">
                <a:tableStyleId>{5C22544A-7EE6-4342-B048-85BDC9FD1C3A}</a:tableStyleId>
              </a:tblPr>
              <a:tblGrid>
                <a:gridCol w="2712155">
                  <a:extLst>
                    <a:ext uri="{9D8B030D-6E8A-4147-A177-3AD203B41FA5}">
                      <a16:colId xmlns:a16="http://schemas.microsoft.com/office/drawing/2014/main" val="20000"/>
                    </a:ext>
                  </a:extLst>
                </a:gridCol>
                <a:gridCol w="2712155">
                  <a:extLst>
                    <a:ext uri="{9D8B030D-6E8A-4147-A177-3AD203B41FA5}">
                      <a16:colId xmlns:a16="http://schemas.microsoft.com/office/drawing/2014/main" val="20001"/>
                    </a:ext>
                  </a:extLst>
                </a:gridCol>
                <a:gridCol w="2712155">
                  <a:extLst>
                    <a:ext uri="{9D8B030D-6E8A-4147-A177-3AD203B41FA5}">
                      <a16:colId xmlns:a16="http://schemas.microsoft.com/office/drawing/2014/main" val="20002"/>
                    </a:ext>
                  </a:extLst>
                </a:gridCol>
                <a:gridCol w="2712155">
                  <a:extLst>
                    <a:ext uri="{9D8B030D-6E8A-4147-A177-3AD203B41FA5}">
                      <a16:colId xmlns:a16="http://schemas.microsoft.com/office/drawing/2014/main" val="20003"/>
                    </a:ext>
                  </a:extLst>
                </a:gridCol>
              </a:tblGrid>
              <a:tr h="383446">
                <a:tc>
                  <a:txBody>
                    <a:bodyPr/>
                    <a:lstStyle/>
                    <a:p>
                      <a:pPr algn="ctr"/>
                      <a:r>
                        <a:rPr lang="es-AR" dirty="0" smtClean="0"/>
                        <a:t>Color</a:t>
                      </a:r>
                      <a:endParaRPr lang="es-AR" dirty="0"/>
                    </a:p>
                  </a:txBody>
                  <a:tcPr/>
                </a:tc>
                <a:tc>
                  <a:txBody>
                    <a:bodyPr/>
                    <a:lstStyle/>
                    <a:p>
                      <a:pPr algn="ctr"/>
                      <a:r>
                        <a:rPr lang="es-AR" dirty="0" smtClean="0"/>
                        <a:t>Variación</a:t>
                      </a:r>
                      <a:endParaRPr lang="es-AR" dirty="0"/>
                    </a:p>
                  </a:txBody>
                  <a:tcPr/>
                </a:tc>
                <a:tc>
                  <a:txBody>
                    <a:bodyPr/>
                    <a:lstStyle/>
                    <a:p>
                      <a:pPr algn="ctr"/>
                      <a:r>
                        <a:rPr lang="el-GR" dirty="0" smtClean="0"/>
                        <a:t>λ</a:t>
                      </a:r>
                      <a:r>
                        <a:rPr lang="es-AR" dirty="0" smtClean="0"/>
                        <a:t> (</a:t>
                      </a:r>
                      <a:r>
                        <a:rPr lang="es-AR" dirty="0" err="1" smtClean="0"/>
                        <a:t>nm</a:t>
                      </a:r>
                      <a:r>
                        <a:rPr lang="es-AR" dirty="0" smtClean="0"/>
                        <a:t>)</a:t>
                      </a:r>
                      <a:endParaRPr lang="es-AR" dirty="0"/>
                    </a:p>
                  </a:txBody>
                  <a:tcPr/>
                </a:tc>
                <a:tc>
                  <a:txBody>
                    <a:bodyPr/>
                    <a:lstStyle/>
                    <a:p>
                      <a:pPr algn="ctr"/>
                      <a:r>
                        <a:rPr lang="es-AR" dirty="0" smtClean="0"/>
                        <a:t>Energía (eV)</a:t>
                      </a:r>
                      <a:endParaRPr lang="es-AR" dirty="0"/>
                    </a:p>
                  </a:txBody>
                  <a:tcPr/>
                </a:tc>
                <a:extLst>
                  <a:ext uri="{0D108BD9-81ED-4DB2-BD59-A6C34878D82A}">
                    <a16:rowId xmlns:a16="http://schemas.microsoft.com/office/drawing/2014/main" val="10000"/>
                  </a:ext>
                </a:extLst>
              </a:tr>
              <a:tr h="383446">
                <a:tc rowSpan="3">
                  <a:txBody>
                    <a:bodyPr/>
                    <a:lstStyle/>
                    <a:p>
                      <a:endParaRPr lang="es-AR" dirty="0" smtClean="0"/>
                    </a:p>
                    <a:p>
                      <a:pPr algn="ctr"/>
                      <a:r>
                        <a:rPr lang="es-AR" dirty="0" smtClean="0"/>
                        <a:t>Violeta</a:t>
                      </a:r>
                      <a:endParaRPr lang="es-AR" dirty="0"/>
                    </a:p>
                  </a:txBody>
                  <a:tcPr/>
                </a:tc>
                <a:tc>
                  <a:txBody>
                    <a:bodyPr/>
                    <a:lstStyle/>
                    <a:p>
                      <a:r>
                        <a:rPr lang="es-AR" dirty="0" smtClean="0"/>
                        <a:t>Límite</a:t>
                      </a:r>
                      <a:endParaRPr lang="es-AR" dirty="0"/>
                    </a:p>
                  </a:txBody>
                  <a:tcPr/>
                </a:tc>
                <a:tc>
                  <a:txBody>
                    <a:bodyPr/>
                    <a:lstStyle/>
                    <a:p>
                      <a:pPr algn="ctr"/>
                      <a:r>
                        <a:rPr lang="es-AR" dirty="0" smtClean="0"/>
                        <a:t>400</a:t>
                      </a:r>
                      <a:endParaRPr lang="es-AR" dirty="0"/>
                    </a:p>
                  </a:txBody>
                  <a:tcPr/>
                </a:tc>
                <a:tc>
                  <a:txBody>
                    <a:bodyPr/>
                    <a:lstStyle/>
                    <a:p>
                      <a:pPr algn="ctr"/>
                      <a:r>
                        <a:rPr lang="es-AR" dirty="0" smtClean="0"/>
                        <a:t>3.10</a:t>
                      </a:r>
                      <a:endParaRPr lang="es-AR" dirty="0"/>
                    </a:p>
                  </a:txBody>
                  <a:tcPr/>
                </a:tc>
                <a:extLst>
                  <a:ext uri="{0D108BD9-81ED-4DB2-BD59-A6C34878D82A}">
                    <a16:rowId xmlns:a16="http://schemas.microsoft.com/office/drawing/2014/main" val="10001"/>
                  </a:ext>
                </a:extLst>
              </a:tr>
              <a:tr h="383446">
                <a:tc vMerge="1">
                  <a:txBody>
                    <a:bodyPr/>
                    <a:lstStyle/>
                    <a:p>
                      <a:endParaRPr lang="es-AR" dirty="0"/>
                    </a:p>
                  </a:txBody>
                  <a:tcPr/>
                </a:tc>
                <a:tc>
                  <a:txBody>
                    <a:bodyPr/>
                    <a:lstStyle/>
                    <a:p>
                      <a:r>
                        <a:rPr lang="es-AR" dirty="0" smtClean="0"/>
                        <a:t>Medio</a:t>
                      </a:r>
                      <a:endParaRPr lang="es-AR" dirty="0"/>
                    </a:p>
                  </a:txBody>
                  <a:tcPr/>
                </a:tc>
                <a:tc>
                  <a:txBody>
                    <a:bodyPr/>
                    <a:lstStyle/>
                    <a:p>
                      <a:pPr algn="ctr"/>
                      <a:r>
                        <a:rPr lang="es-AR" dirty="0" smtClean="0"/>
                        <a:t>420</a:t>
                      </a:r>
                      <a:endParaRPr lang="es-AR" dirty="0"/>
                    </a:p>
                  </a:txBody>
                  <a:tcPr/>
                </a:tc>
                <a:tc>
                  <a:txBody>
                    <a:bodyPr/>
                    <a:lstStyle/>
                    <a:p>
                      <a:pPr algn="ctr"/>
                      <a:r>
                        <a:rPr lang="es-AR" dirty="0" smtClean="0"/>
                        <a:t>2.95</a:t>
                      </a:r>
                      <a:endParaRPr lang="es-AR" dirty="0"/>
                    </a:p>
                  </a:txBody>
                  <a:tcPr/>
                </a:tc>
                <a:extLst>
                  <a:ext uri="{0D108BD9-81ED-4DB2-BD59-A6C34878D82A}">
                    <a16:rowId xmlns:a16="http://schemas.microsoft.com/office/drawing/2014/main" val="10002"/>
                  </a:ext>
                </a:extLst>
              </a:tr>
              <a:tr h="383446">
                <a:tc vMerge="1">
                  <a:txBody>
                    <a:bodyPr/>
                    <a:lstStyle/>
                    <a:p>
                      <a:endParaRPr lang="es-AR" dirty="0"/>
                    </a:p>
                  </a:txBody>
                  <a:tcPr/>
                </a:tc>
                <a:tc>
                  <a:txBody>
                    <a:bodyPr/>
                    <a:lstStyle/>
                    <a:p>
                      <a:r>
                        <a:rPr lang="es-AR" dirty="0" smtClean="0"/>
                        <a:t>Azulado</a:t>
                      </a:r>
                      <a:endParaRPr lang="es-AR" dirty="0"/>
                    </a:p>
                  </a:txBody>
                  <a:tcPr/>
                </a:tc>
                <a:tc>
                  <a:txBody>
                    <a:bodyPr/>
                    <a:lstStyle/>
                    <a:p>
                      <a:pPr algn="ctr"/>
                      <a:r>
                        <a:rPr lang="es-AR" dirty="0" smtClean="0"/>
                        <a:t>440</a:t>
                      </a:r>
                      <a:endParaRPr lang="es-AR" dirty="0"/>
                    </a:p>
                  </a:txBody>
                  <a:tcPr/>
                </a:tc>
                <a:tc>
                  <a:txBody>
                    <a:bodyPr/>
                    <a:lstStyle/>
                    <a:p>
                      <a:pPr algn="ctr"/>
                      <a:r>
                        <a:rPr lang="es-AR" dirty="0" smtClean="0"/>
                        <a:t>2.82</a:t>
                      </a:r>
                      <a:endParaRPr lang="es-AR" dirty="0"/>
                    </a:p>
                  </a:txBody>
                  <a:tcPr/>
                </a:tc>
                <a:extLst>
                  <a:ext uri="{0D108BD9-81ED-4DB2-BD59-A6C34878D82A}">
                    <a16:rowId xmlns:a16="http://schemas.microsoft.com/office/drawing/2014/main" val="10003"/>
                  </a:ext>
                </a:extLst>
              </a:tr>
              <a:tr h="383446">
                <a:tc rowSpan="2">
                  <a:txBody>
                    <a:bodyPr/>
                    <a:lstStyle/>
                    <a:p>
                      <a:pPr algn="ctr"/>
                      <a:endParaRPr lang="es-AR" dirty="0" smtClean="0"/>
                    </a:p>
                    <a:p>
                      <a:pPr algn="ctr"/>
                      <a:r>
                        <a:rPr lang="es-AR" dirty="0" smtClean="0"/>
                        <a:t>Azul</a:t>
                      </a:r>
                      <a:endParaRPr lang="es-AR" dirty="0"/>
                    </a:p>
                  </a:txBody>
                  <a:tcPr/>
                </a:tc>
                <a:tc>
                  <a:txBody>
                    <a:bodyPr/>
                    <a:lstStyle/>
                    <a:p>
                      <a:r>
                        <a:rPr lang="es-AR" dirty="0" smtClean="0"/>
                        <a:t>Medio</a:t>
                      </a:r>
                      <a:endParaRPr lang="es-AR" dirty="0"/>
                    </a:p>
                  </a:txBody>
                  <a:tcPr/>
                </a:tc>
                <a:tc>
                  <a:txBody>
                    <a:bodyPr/>
                    <a:lstStyle/>
                    <a:p>
                      <a:pPr algn="ctr"/>
                      <a:r>
                        <a:rPr lang="es-AR" dirty="0" smtClean="0"/>
                        <a:t>470</a:t>
                      </a:r>
                      <a:endParaRPr lang="es-AR" dirty="0"/>
                    </a:p>
                  </a:txBody>
                  <a:tcPr/>
                </a:tc>
                <a:tc>
                  <a:txBody>
                    <a:bodyPr/>
                    <a:lstStyle/>
                    <a:p>
                      <a:pPr algn="ctr"/>
                      <a:r>
                        <a:rPr lang="es-AR" dirty="0" smtClean="0"/>
                        <a:t>2.64</a:t>
                      </a:r>
                      <a:endParaRPr lang="es-AR" dirty="0"/>
                    </a:p>
                  </a:txBody>
                  <a:tcPr/>
                </a:tc>
                <a:extLst>
                  <a:ext uri="{0D108BD9-81ED-4DB2-BD59-A6C34878D82A}">
                    <a16:rowId xmlns:a16="http://schemas.microsoft.com/office/drawing/2014/main" val="10004"/>
                  </a:ext>
                </a:extLst>
              </a:tr>
              <a:tr h="383446">
                <a:tc vMerge="1">
                  <a:txBody>
                    <a:bodyPr/>
                    <a:lstStyle/>
                    <a:p>
                      <a:endParaRPr lang="es-AR" dirty="0"/>
                    </a:p>
                  </a:txBody>
                  <a:tcPr/>
                </a:tc>
                <a:tc>
                  <a:txBody>
                    <a:bodyPr/>
                    <a:lstStyle/>
                    <a:p>
                      <a:r>
                        <a:rPr lang="es-AR" dirty="0" err="1" smtClean="0"/>
                        <a:t>Turqueza</a:t>
                      </a:r>
                      <a:endParaRPr lang="es-AR" dirty="0"/>
                    </a:p>
                  </a:txBody>
                  <a:tcPr/>
                </a:tc>
                <a:tc>
                  <a:txBody>
                    <a:bodyPr/>
                    <a:lstStyle/>
                    <a:p>
                      <a:pPr algn="ctr"/>
                      <a:r>
                        <a:rPr lang="es-AR" dirty="0" smtClean="0"/>
                        <a:t>500</a:t>
                      </a:r>
                      <a:endParaRPr lang="es-AR" dirty="0"/>
                    </a:p>
                  </a:txBody>
                  <a:tcPr/>
                </a:tc>
                <a:tc>
                  <a:txBody>
                    <a:bodyPr/>
                    <a:lstStyle/>
                    <a:p>
                      <a:pPr algn="ctr"/>
                      <a:r>
                        <a:rPr lang="es-AR" dirty="0" smtClean="0"/>
                        <a:t>2.48</a:t>
                      </a:r>
                      <a:endParaRPr lang="es-AR" dirty="0"/>
                    </a:p>
                  </a:txBody>
                  <a:tcPr/>
                </a:tc>
                <a:extLst>
                  <a:ext uri="{0D108BD9-81ED-4DB2-BD59-A6C34878D82A}">
                    <a16:rowId xmlns:a16="http://schemas.microsoft.com/office/drawing/2014/main" val="10005"/>
                  </a:ext>
                </a:extLst>
              </a:tr>
              <a:tr h="383446">
                <a:tc rowSpan="3">
                  <a:txBody>
                    <a:bodyPr/>
                    <a:lstStyle/>
                    <a:p>
                      <a:pPr algn="ctr"/>
                      <a:endParaRPr lang="es-AR" dirty="0" smtClean="0"/>
                    </a:p>
                    <a:p>
                      <a:pPr algn="ctr"/>
                      <a:r>
                        <a:rPr lang="es-AR" dirty="0" smtClean="0"/>
                        <a:t>Verde</a:t>
                      </a:r>
                      <a:endParaRPr lang="es-AR" dirty="0"/>
                    </a:p>
                  </a:txBody>
                  <a:tcPr/>
                </a:tc>
                <a:tc>
                  <a:txBody>
                    <a:bodyPr/>
                    <a:lstStyle/>
                    <a:p>
                      <a:r>
                        <a:rPr lang="es-AR" dirty="0" smtClean="0"/>
                        <a:t>Medio</a:t>
                      </a:r>
                      <a:endParaRPr lang="es-AR" dirty="0"/>
                    </a:p>
                  </a:txBody>
                  <a:tcPr/>
                </a:tc>
                <a:tc>
                  <a:txBody>
                    <a:bodyPr/>
                    <a:lstStyle/>
                    <a:p>
                      <a:pPr algn="ctr"/>
                      <a:r>
                        <a:rPr lang="es-AR" dirty="0" smtClean="0"/>
                        <a:t>530</a:t>
                      </a:r>
                      <a:endParaRPr lang="es-AR" dirty="0"/>
                    </a:p>
                  </a:txBody>
                  <a:tcPr/>
                </a:tc>
                <a:tc>
                  <a:txBody>
                    <a:bodyPr/>
                    <a:lstStyle/>
                    <a:p>
                      <a:pPr algn="ctr"/>
                      <a:r>
                        <a:rPr lang="es-AR" dirty="0" smtClean="0"/>
                        <a:t>2.34</a:t>
                      </a:r>
                      <a:endParaRPr lang="es-AR" dirty="0"/>
                    </a:p>
                  </a:txBody>
                  <a:tcPr/>
                </a:tc>
                <a:extLst>
                  <a:ext uri="{0D108BD9-81ED-4DB2-BD59-A6C34878D82A}">
                    <a16:rowId xmlns:a16="http://schemas.microsoft.com/office/drawing/2014/main" val="10006"/>
                  </a:ext>
                </a:extLst>
              </a:tr>
              <a:tr h="383446">
                <a:tc vMerge="1">
                  <a:txBody>
                    <a:bodyPr/>
                    <a:lstStyle/>
                    <a:p>
                      <a:endParaRPr lang="es-AR" dirty="0"/>
                    </a:p>
                  </a:txBody>
                  <a:tcPr/>
                </a:tc>
                <a:tc>
                  <a:txBody>
                    <a:bodyPr/>
                    <a:lstStyle/>
                    <a:p>
                      <a:endParaRPr lang="es-AR"/>
                    </a:p>
                  </a:txBody>
                  <a:tcPr/>
                </a:tc>
                <a:tc>
                  <a:txBody>
                    <a:bodyPr/>
                    <a:lstStyle/>
                    <a:p>
                      <a:pPr algn="ctr"/>
                      <a:r>
                        <a:rPr lang="es-AR" dirty="0" smtClean="0"/>
                        <a:t>555</a:t>
                      </a:r>
                      <a:endParaRPr lang="es-AR" dirty="0"/>
                    </a:p>
                  </a:txBody>
                  <a:tcPr/>
                </a:tc>
                <a:tc>
                  <a:txBody>
                    <a:bodyPr/>
                    <a:lstStyle/>
                    <a:p>
                      <a:pPr algn="ctr"/>
                      <a:r>
                        <a:rPr lang="es-AR" dirty="0" smtClean="0"/>
                        <a:t>2.24</a:t>
                      </a:r>
                      <a:endParaRPr lang="es-AR" dirty="0"/>
                    </a:p>
                  </a:txBody>
                  <a:tcPr/>
                </a:tc>
                <a:extLst>
                  <a:ext uri="{0D108BD9-81ED-4DB2-BD59-A6C34878D82A}">
                    <a16:rowId xmlns:a16="http://schemas.microsoft.com/office/drawing/2014/main" val="10007"/>
                  </a:ext>
                </a:extLst>
              </a:tr>
              <a:tr h="383446">
                <a:tc vMerge="1">
                  <a:txBody>
                    <a:bodyPr/>
                    <a:lstStyle/>
                    <a:p>
                      <a:endParaRPr lang="es-AR" dirty="0"/>
                    </a:p>
                  </a:txBody>
                  <a:tcPr/>
                </a:tc>
                <a:tc>
                  <a:txBody>
                    <a:bodyPr/>
                    <a:lstStyle/>
                    <a:p>
                      <a:r>
                        <a:rPr lang="es-AR" dirty="0" smtClean="0"/>
                        <a:t>Amarillento</a:t>
                      </a:r>
                      <a:endParaRPr lang="es-AR" dirty="0"/>
                    </a:p>
                  </a:txBody>
                  <a:tcPr/>
                </a:tc>
                <a:tc>
                  <a:txBody>
                    <a:bodyPr/>
                    <a:lstStyle/>
                    <a:p>
                      <a:pPr algn="ctr"/>
                      <a:r>
                        <a:rPr lang="es-AR" dirty="0" smtClean="0"/>
                        <a:t>560</a:t>
                      </a:r>
                      <a:endParaRPr lang="es-AR" dirty="0"/>
                    </a:p>
                  </a:txBody>
                  <a:tcPr/>
                </a:tc>
                <a:tc>
                  <a:txBody>
                    <a:bodyPr/>
                    <a:lstStyle/>
                    <a:p>
                      <a:pPr algn="ctr"/>
                      <a:r>
                        <a:rPr lang="es-AR" dirty="0" smtClean="0"/>
                        <a:t>2.22</a:t>
                      </a:r>
                      <a:endParaRPr lang="es-AR" dirty="0"/>
                    </a:p>
                  </a:txBody>
                  <a:tcPr/>
                </a:tc>
                <a:extLst>
                  <a:ext uri="{0D108BD9-81ED-4DB2-BD59-A6C34878D82A}">
                    <a16:rowId xmlns:a16="http://schemas.microsoft.com/office/drawing/2014/main" val="10008"/>
                  </a:ext>
                </a:extLst>
              </a:tr>
              <a:tr h="383446">
                <a:tc rowSpan="2">
                  <a:txBody>
                    <a:bodyPr/>
                    <a:lstStyle/>
                    <a:p>
                      <a:endParaRPr lang="es-AR" dirty="0" smtClean="0"/>
                    </a:p>
                    <a:p>
                      <a:pPr algn="ctr"/>
                      <a:r>
                        <a:rPr lang="es-AR" dirty="0" smtClean="0"/>
                        <a:t>Amarillo</a:t>
                      </a:r>
                      <a:endParaRPr lang="es-AR" dirty="0"/>
                    </a:p>
                  </a:txBody>
                  <a:tcPr/>
                </a:tc>
                <a:tc>
                  <a:txBody>
                    <a:bodyPr/>
                    <a:lstStyle/>
                    <a:p>
                      <a:r>
                        <a:rPr lang="es-AR" dirty="0" smtClean="0"/>
                        <a:t>Medio</a:t>
                      </a:r>
                      <a:endParaRPr lang="es-AR" dirty="0"/>
                    </a:p>
                  </a:txBody>
                  <a:tcPr/>
                </a:tc>
                <a:tc>
                  <a:txBody>
                    <a:bodyPr/>
                    <a:lstStyle/>
                    <a:p>
                      <a:pPr algn="ctr"/>
                      <a:r>
                        <a:rPr lang="es-AR" dirty="0" smtClean="0"/>
                        <a:t>580</a:t>
                      </a:r>
                      <a:endParaRPr lang="es-AR" dirty="0"/>
                    </a:p>
                  </a:txBody>
                  <a:tcPr/>
                </a:tc>
                <a:tc>
                  <a:txBody>
                    <a:bodyPr/>
                    <a:lstStyle/>
                    <a:p>
                      <a:pPr algn="ctr"/>
                      <a:r>
                        <a:rPr lang="es-AR" dirty="0" smtClean="0"/>
                        <a:t>2.14</a:t>
                      </a:r>
                      <a:endParaRPr lang="es-AR" dirty="0"/>
                    </a:p>
                  </a:txBody>
                  <a:tcPr/>
                </a:tc>
                <a:extLst>
                  <a:ext uri="{0D108BD9-81ED-4DB2-BD59-A6C34878D82A}">
                    <a16:rowId xmlns:a16="http://schemas.microsoft.com/office/drawing/2014/main" val="10009"/>
                  </a:ext>
                </a:extLst>
              </a:tr>
              <a:tr h="383446">
                <a:tc vMerge="1">
                  <a:txBody>
                    <a:bodyPr/>
                    <a:lstStyle/>
                    <a:p>
                      <a:endParaRPr lang="es-AR" dirty="0"/>
                    </a:p>
                  </a:txBody>
                  <a:tcPr/>
                </a:tc>
                <a:tc>
                  <a:txBody>
                    <a:bodyPr/>
                    <a:lstStyle/>
                    <a:p>
                      <a:r>
                        <a:rPr lang="es-AR" dirty="0" smtClean="0"/>
                        <a:t>Anaranjado</a:t>
                      </a:r>
                      <a:endParaRPr lang="es-AR" dirty="0"/>
                    </a:p>
                  </a:txBody>
                  <a:tcPr/>
                </a:tc>
                <a:tc>
                  <a:txBody>
                    <a:bodyPr/>
                    <a:lstStyle/>
                    <a:p>
                      <a:pPr algn="ctr"/>
                      <a:r>
                        <a:rPr lang="es-AR" dirty="0" smtClean="0"/>
                        <a:t>590</a:t>
                      </a:r>
                      <a:endParaRPr lang="es-AR" dirty="0"/>
                    </a:p>
                  </a:txBody>
                  <a:tcPr/>
                </a:tc>
                <a:tc>
                  <a:txBody>
                    <a:bodyPr/>
                    <a:lstStyle/>
                    <a:p>
                      <a:pPr algn="ctr"/>
                      <a:r>
                        <a:rPr lang="es-AR" dirty="0" smtClean="0"/>
                        <a:t>2.10</a:t>
                      </a:r>
                      <a:endParaRPr lang="es-AR" dirty="0"/>
                    </a:p>
                  </a:txBody>
                  <a:tcPr/>
                </a:tc>
                <a:extLst>
                  <a:ext uri="{0D108BD9-81ED-4DB2-BD59-A6C34878D82A}">
                    <a16:rowId xmlns:a16="http://schemas.microsoft.com/office/drawing/2014/main" val="10010"/>
                  </a:ext>
                </a:extLst>
              </a:tr>
              <a:tr h="383446">
                <a:tc rowSpan="2">
                  <a:txBody>
                    <a:bodyPr/>
                    <a:lstStyle/>
                    <a:p>
                      <a:endParaRPr lang="es-AR" dirty="0" smtClean="0"/>
                    </a:p>
                    <a:p>
                      <a:pPr algn="ctr"/>
                      <a:r>
                        <a:rPr lang="es-AR" dirty="0" smtClean="0"/>
                        <a:t>Anaranjado</a:t>
                      </a:r>
                      <a:endParaRPr lang="es-AR" dirty="0"/>
                    </a:p>
                  </a:txBody>
                  <a:tcPr/>
                </a:tc>
                <a:tc>
                  <a:txBody>
                    <a:bodyPr/>
                    <a:lstStyle/>
                    <a:p>
                      <a:r>
                        <a:rPr lang="es-AR" dirty="0" smtClean="0"/>
                        <a:t>Medio</a:t>
                      </a:r>
                      <a:endParaRPr lang="es-AR" dirty="0"/>
                    </a:p>
                  </a:txBody>
                  <a:tcPr/>
                </a:tc>
                <a:tc>
                  <a:txBody>
                    <a:bodyPr/>
                    <a:lstStyle/>
                    <a:p>
                      <a:pPr algn="ctr"/>
                      <a:r>
                        <a:rPr lang="es-AR" dirty="0" smtClean="0"/>
                        <a:t>600</a:t>
                      </a:r>
                      <a:endParaRPr lang="es-AR" dirty="0"/>
                    </a:p>
                  </a:txBody>
                  <a:tcPr/>
                </a:tc>
                <a:tc>
                  <a:txBody>
                    <a:bodyPr/>
                    <a:lstStyle/>
                    <a:p>
                      <a:pPr algn="ctr"/>
                      <a:r>
                        <a:rPr lang="es-AR" dirty="0" smtClean="0"/>
                        <a:t>2.07</a:t>
                      </a:r>
                      <a:endParaRPr lang="es-AR" dirty="0"/>
                    </a:p>
                  </a:txBody>
                  <a:tcPr/>
                </a:tc>
                <a:extLst>
                  <a:ext uri="{0D108BD9-81ED-4DB2-BD59-A6C34878D82A}">
                    <a16:rowId xmlns:a16="http://schemas.microsoft.com/office/drawing/2014/main" val="10011"/>
                  </a:ext>
                </a:extLst>
              </a:tr>
              <a:tr h="383446">
                <a:tc vMerge="1">
                  <a:txBody>
                    <a:bodyPr/>
                    <a:lstStyle/>
                    <a:p>
                      <a:endParaRPr lang="es-AR" dirty="0"/>
                    </a:p>
                  </a:txBody>
                  <a:tcPr/>
                </a:tc>
                <a:tc>
                  <a:txBody>
                    <a:bodyPr/>
                    <a:lstStyle/>
                    <a:p>
                      <a:r>
                        <a:rPr lang="es-AR" dirty="0" smtClean="0"/>
                        <a:t>Rojizo</a:t>
                      </a:r>
                      <a:endParaRPr lang="es-AR" dirty="0"/>
                    </a:p>
                  </a:txBody>
                  <a:tcPr/>
                </a:tc>
                <a:tc>
                  <a:txBody>
                    <a:bodyPr/>
                    <a:lstStyle/>
                    <a:p>
                      <a:pPr algn="ctr"/>
                      <a:r>
                        <a:rPr lang="es-AR" dirty="0" smtClean="0"/>
                        <a:t>610</a:t>
                      </a:r>
                      <a:endParaRPr lang="es-AR" dirty="0"/>
                    </a:p>
                  </a:txBody>
                  <a:tcPr/>
                </a:tc>
                <a:tc>
                  <a:txBody>
                    <a:bodyPr/>
                    <a:lstStyle/>
                    <a:p>
                      <a:pPr algn="ctr"/>
                      <a:r>
                        <a:rPr lang="es-AR" dirty="0" smtClean="0"/>
                        <a:t>2.03</a:t>
                      </a:r>
                      <a:endParaRPr lang="es-AR" dirty="0"/>
                    </a:p>
                  </a:txBody>
                  <a:tcPr/>
                </a:tc>
                <a:extLst>
                  <a:ext uri="{0D108BD9-81ED-4DB2-BD59-A6C34878D82A}">
                    <a16:rowId xmlns:a16="http://schemas.microsoft.com/office/drawing/2014/main" val="10012"/>
                  </a:ext>
                </a:extLst>
              </a:tr>
              <a:tr h="383446">
                <a:tc rowSpan="2">
                  <a:txBody>
                    <a:bodyPr/>
                    <a:lstStyle/>
                    <a:p>
                      <a:endParaRPr lang="es-AR" dirty="0" smtClean="0"/>
                    </a:p>
                    <a:p>
                      <a:pPr algn="ctr"/>
                      <a:r>
                        <a:rPr lang="es-AR" dirty="0" smtClean="0"/>
                        <a:t>Rojo</a:t>
                      </a:r>
                      <a:endParaRPr lang="es-AR" dirty="0"/>
                    </a:p>
                  </a:txBody>
                  <a:tcPr/>
                </a:tc>
                <a:tc>
                  <a:txBody>
                    <a:bodyPr/>
                    <a:lstStyle/>
                    <a:p>
                      <a:r>
                        <a:rPr lang="es-AR" dirty="0" smtClean="0"/>
                        <a:t>Medio</a:t>
                      </a:r>
                      <a:endParaRPr lang="es-AR" dirty="0"/>
                    </a:p>
                  </a:txBody>
                  <a:tcPr/>
                </a:tc>
                <a:tc>
                  <a:txBody>
                    <a:bodyPr/>
                    <a:lstStyle/>
                    <a:p>
                      <a:pPr algn="ctr"/>
                      <a:r>
                        <a:rPr lang="es-AR" dirty="0" smtClean="0"/>
                        <a:t>650</a:t>
                      </a:r>
                      <a:endParaRPr lang="es-AR" dirty="0"/>
                    </a:p>
                  </a:txBody>
                  <a:tcPr/>
                </a:tc>
                <a:tc>
                  <a:txBody>
                    <a:bodyPr/>
                    <a:lstStyle/>
                    <a:p>
                      <a:pPr algn="ctr"/>
                      <a:r>
                        <a:rPr lang="es-AR" dirty="0" smtClean="0"/>
                        <a:t>1.91</a:t>
                      </a:r>
                      <a:endParaRPr lang="es-AR" dirty="0"/>
                    </a:p>
                  </a:txBody>
                  <a:tcPr/>
                </a:tc>
                <a:extLst>
                  <a:ext uri="{0D108BD9-81ED-4DB2-BD59-A6C34878D82A}">
                    <a16:rowId xmlns:a16="http://schemas.microsoft.com/office/drawing/2014/main" val="10013"/>
                  </a:ext>
                </a:extLst>
              </a:tr>
              <a:tr h="383446">
                <a:tc vMerge="1">
                  <a:txBody>
                    <a:bodyPr/>
                    <a:lstStyle/>
                    <a:p>
                      <a:endParaRPr lang="es-AR" dirty="0"/>
                    </a:p>
                  </a:txBody>
                  <a:tcPr/>
                </a:tc>
                <a:tc>
                  <a:txBody>
                    <a:bodyPr/>
                    <a:lstStyle/>
                    <a:p>
                      <a:r>
                        <a:rPr lang="es-AR" dirty="0" smtClean="0"/>
                        <a:t>Límite</a:t>
                      </a:r>
                      <a:endParaRPr lang="es-AR" dirty="0"/>
                    </a:p>
                  </a:txBody>
                  <a:tcPr/>
                </a:tc>
                <a:tc>
                  <a:txBody>
                    <a:bodyPr/>
                    <a:lstStyle/>
                    <a:p>
                      <a:pPr algn="ctr"/>
                      <a:r>
                        <a:rPr lang="es-AR" dirty="0" smtClean="0"/>
                        <a:t>780</a:t>
                      </a:r>
                      <a:endParaRPr lang="es-AR" dirty="0"/>
                    </a:p>
                  </a:txBody>
                  <a:tcPr/>
                </a:tc>
                <a:tc>
                  <a:txBody>
                    <a:bodyPr/>
                    <a:lstStyle/>
                    <a:p>
                      <a:pPr algn="ctr"/>
                      <a:r>
                        <a:rPr lang="es-AR" dirty="0" smtClean="0"/>
                        <a:t>1,59</a:t>
                      </a:r>
                      <a:endParaRPr lang="es-AR" dirty="0"/>
                    </a:p>
                  </a:txBody>
                  <a:tcPr/>
                </a:tc>
                <a:extLst>
                  <a:ext uri="{0D108BD9-81ED-4DB2-BD59-A6C34878D82A}">
                    <a16:rowId xmlns:a16="http://schemas.microsoft.com/office/drawing/2014/main" val="10014"/>
                  </a:ext>
                </a:extLst>
              </a:tr>
            </a:tbl>
          </a:graphicData>
        </a:graphic>
      </p:graphicFrame>
      <p:cxnSp>
        <p:nvCxnSpPr>
          <p:cNvPr id="6" name="Conector recto de flecha 5"/>
          <p:cNvCxnSpPr/>
          <p:nvPr/>
        </p:nvCxnSpPr>
        <p:spPr>
          <a:xfrm>
            <a:off x="4233333" y="3375378"/>
            <a:ext cx="1501423" cy="112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4852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646111" y="146757"/>
            <a:ext cx="9404723" cy="722488"/>
          </a:xfrm>
        </p:spPr>
        <p:txBody>
          <a:bodyPr/>
          <a:lstStyle/>
          <a:p>
            <a:pPr algn="ctr"/>
            <a:r>
              <a:rPr lang="es-AR" dirty="0" smtClean="0"/>
              <a:t>Radiación infrarroja</a:t>
            </a:r>
            <a:endParaRPr lang="es-AR" dirty="0"/>
          </a:p>
        </p:txBody>
      </p:sp>
      <p:pic>
        <p:nvPicPr>
          <p:cNvPr id="5" name="Imagen 4"/>
          <p:cNvPicPr>
            <a:picLocks noChangeAspect="1"/>
          </p:cNvPicPr>
          <p:nvPr/>
        </p:nvPicPr>
        <p:blipFill>
          <a:blip r:embed="rId2"/>
          <a:stretch>
            <a:fillRect/>
          </a:stretch>
        </p:blipFill>
        <p:spPr>
          <a:xfrm>
            <a:off x="327377" y="1117600"/>
            <a:ext cx="11548533" cy="5463821"/>
          </a:xfrm>
          <a:prstGeom prst="rect">
            <a:avLst/>
          </a:prstGeom>
        </p:spPr>
      </p:pic>
    </p:spTree>
    <p:extLst>
      <p:ext uri="{BB962C8B-B14F-4D97-AF65-F5344CB8AC3E}">
        <p14:creationId xmlns:p14="http://schemas.microsoft.com/office/powerpoint/2010/main" val="30497041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646111" y="135468"/>
            <a:ext cx="9404723" cy="688622"/>
          </a:xfrm>
        </p:spPr>
        <p:txBody>
          <a:bodyPr/>
          <a:lstStyle/>
          <a:p>
            <a:pPr algn="ctr"/>
            <a:r>
              <a:rPr lang="es-AR" dirty="0" smtClean="0"/>
              <a:t>Radiación ultravioleta</a:t>
            </a:r>
            <a:endParaRPr lang="es-AR" dirty="0"/>
          </a:p>
        </p:txBody>
      </p:sp>
      <p:graphicFrame>
        <p:nvGraphicFramePr>
          <p:cNvPr id="6" name="Marcador de contenido 5"/>
          <p:cNvGraphicFramePr>
            <a:graphicFrameLocks noGrp="1"/>
          </p:cNvGraphicFramePr>
          <p:nvPr>
            <p:ph idx="1"/>
            <p:extLst/>
          </p:nvPr>
        </p:nvGraphicFramePr>
        <p:xfrm>
          <a:off x="293510" y="959557"/>
          <a:ext cx="11582580" cy="5644442"/>
        </p:xfrm>
        <a:graphic>
          <a:graphicData uri="http://schemas.openxmlformats.org/drawingml/2006/table">
            <a:tbl>
              <a:tblPr firstRow="1" bandRow="1">
                <a:tableStyleId>{5C22544A-7EE6-4342-B048-85BDC9FD1C3A}</a:tableStyleId>
              </a:tblPr>
              <a:tblGrid>
                <a:gridCol w="2895645">
                  <a:extLst>
                    <a:ext uri="{9D8B030D-6E8A-4147-A177-3AD203B41FA5}">
                      <a16:colId xmlns:a16="http://schemas.microsoft.com/office/drawing/2014/main" val="20000"/>
                    </a:ext>
                  </a:extLst>
                </a:gridCol>
                <a:gridCol w="2895645">
                  <a:extLst>
                    <a:ext uri="{9D8B030D-6E8A-4147-A177-3AD203B41FA5}">
                      <a16:colId xmlns:a16="http://schemas.microsoft.com/office/drawing/2014/main" val="20001"/>
                    </a:ext>
                  </a:extLst>
                </a:gridCol>
                <a:gridCol w="2895645">
                  <a:extLst>
                    <a:ext uri="{9D8B030D-6E8A-4147-A177-3AD203B41FA5}">
                      <a16:colId xmlns:a16="http://schemas.microsoft.com/office/drawing/2014/main" val="20002"/>
                    </a:ext>
                  </a:extLst>
                </a:gridCol>
                <a:gridCol w="2895645">
                  <a:extLst>
                    <a:ext uri="{9D8B030D-6E8A-4147-A177-3AD203B41FA5}">
                      <a16:colId xmlns:a16="http://schemas.microsoft.com/office/drawing/2014/main" val="20003"/>
                    </a:ext>
                  </a:extLst>
                </a:gridCol>
              </a:tblGrid>
              <a:tr h="645761">
                <a:tc>
                  <a:txBody>
                    <a:bodyPr/>
                    <a:lstStyle/>
                    <a:p>
                      <a:pPr algn="ctr"/>
                      <a:r>
                        <a:rPr lang="es-AR" dirty="0" smtClean="0"/>
                        <a:t>NOMBRE</a:t>
                      </a:r>
                      <a:endParaRPr lang="es-AR" dirty="0"/>
                    </a:p>
                  </a:txBody>
                  <a:tcPr/>
                </a:tc>
                <a:tc>
                  <a:txBody>
                    <a:bodyPr/>
                    <a:lstStyle/>
                    <a:p>
                      <a:pPr algn="ctr"/>
                      <a:r>
                        <a:rPr lang="es-AR" dirty="0" smtClean="0"/>
                        <a:t>ABREVIATURA</a:t>
                      </a:r>
                      <a:endParaRPr lang="es-AR" dirty="0"/>
                    </a:p>
                  </a:txBody>
                  <a:tcPr/>
                </a:tc>
                <a:tc>
                  <a:txBody>
                    <a:bodyPr/>
                    <a:lstStyle/>
                    <a:p>
                      <a:pPr algn="ctr"/>
                      <a:r>
                        <a:rPr lang="es-AR" dirty="0" smtClean="0"/>
                        <a:t>LONGITUD DE ONDA (</a:t>
                      </a:r>
                      <a:r>
                        <a:rPr lang="es-AR" dirty="0" err="1" smtClean="0"/>
                        <a:t>nm</a:t>
                      </a:r>
                      <a:r>
                        <a:rPr lang="es-AR" dirty="0" smtClean="0"/>
                        <a:t>)</a:t>
                      </a:r>
                      <a:endParaRPr lang="es-AR" dirty="0"/>
                    </a:p>
                  </a:txBody>
                  <a:tcPr/>
                </a:tc>
                <a:tc>
                  <a:txBody>
                    <a:bodyPr/>
                    <a:lstStyle/>
                    <a:p>
                      <a:pPr algn="ctr"/>
                      <a:r>
                        <a:rPr lang="es-AR" dirty="0" smtClean="0"/>
                        <a:t>ENERGÍA (eV)</a:t>
                      </a:r>
                      <a:endParaRPr lang="es-AR" dirty="0"/>
                    </a:p>
                  </a:txBody>
                  <a:tcPr/>
                </a:tc>
                <a:extLst>
                  <a:ext uri="{0D108BD9-81ED-4DB2-BD59-A6C34878D82A}">
                    <a16:rowId xmlns:a16="http://schemas.microsoft.com/office/drawing/2014/main" val="10000"/>
                  </a:ext>
                </a:extLst>
              </a:tr>
              <a:tr h="645761">
                <a:tc>
                  <a:txBody>
                    <a:bodyPr/>
                    <a:lstStyle/>
                    <a:p>
                      <a:r>
                        <a:rPr lang="es-AR" dirty="0">
                          <a:effectLst/>
                        </a:rPr>
                        <a:t>Ultravioleta A </a:t>
                      </a:r>
                      <a:endParaRPr lang="es-AR" dirty="0" smtClean="0">
                        <a:effectLst/>
                      </a:endParaRPr>
                    </a:p>
                    <a:p>
                      <a:r>
                        <a:rPr lang="es-AR" dirty="0" smtClean="0">
                          <a:effectLst/>
                        </a:rPr>
                        <a:t>(</a:t>
                      </a:r>
                      <a:r>
                        <a:rPr lang="es-AR" dirty="0">
                          <a:effectLst/>
                        </a:rPr>
                        <a:t>onda larga)</a:t>
                      </a:r>
                    </a:p>
                  </a:txBody>
                  <a:tcPr anchor="ctr"/>
                </a:tc>
                <a:tc>
                  <a:txBody>
                    <a:bodyPr/>
                    <a:lstStyle/>
                    <a:p>
                      <a:pPr algn="ctr"/>
                      <a:r>
                        <a:rPr lang="es-AR" dirty="0">
                          <a:effectLst/>
                        </a:rPr>
                        <a:t>UVA</a:t>
                      </a:r>
                    </a:p>
                  </a:txBody>
                  <a:tcPr anchor="ctr"/>
                </a:tc>
                <a:tc>
                  <a:txBody>
                    <a:bodyPr/>
                    <a:lstStyle/>
                    <a:p>
                      <a:pPr algn="ctr"/>
                      <a:r>
                        <a:rPr lang="es-AR" dirty="0">
                          <a:effectLst/>
                        </a:rPr>
                        <a:t>400 – 315</a:t>
                      </a:r>
                    </a:p>
                  </a:txBody>
                  <a:tcPr anchor="ctr"/>
                </a:tc>
                <a:tc>
                  <a:txBody>
                    <a:bodyPr/>
                    <a:lstStyle/>
                    <a:p>
                      <a:pPr algn="ctr"/>
                      <a:r>
                        <a:rPr lang="es-AR" dirty="0">
                          <a:effectLst/>
                        </a:rPr>
                        <a:t>3,10 – 3,94</a:t>
                      </a:r>
                    </a:p>
                  </a:txBody>
                  <a:tcPr anchor="ctr"/>
                </a:tc>
                <a:extLst>
                  <a:ext uri="{0D108BD9-81ED-4DB2-BD59-A6C34878D82A}">
                    <a16:rowId xmlns:a16="http://schemas.microsoft.com/office/drawing/2014/main" val="10001"/>
                  </a:ext>
                </a:extLst>
              </a:tr>
              <a:tr h="645761">
                <a:tc>
                  <a:txBody>
                    <a:bodyPr/>
                    <a:lstStyle/>
                    <a:p>
                      <a:r>
                        <a:rPr lang="es-AR" dirty="0">
                          <a:effectLst/>
                        </a:rPr>
                        <a:t>Ultravioleta B </a:t>
                      </a:r>
                      <a:endParaRPr lang="es-AR" dirty="0" smtClean="0">
                        <a:effectLst/>
                      </a:endParaRPr>
                    </a:p>
                    <a:p>
                      <a:r>
                        <a:rPr lang="es-AR" dirty="0" smtClean="0">
                          <a:effectLst/>
                        </a:rPr>
                        <a:t>(</a:t>
                      </a:r>
                      <a:r>
                        <a:rPr lang="es-AR" dirty="0">
                          <a:effectLst/>
                        </a:rPr>
                        <a:t>onda media)</a:t>
                      </a:r>
                    </a:p>
                  </a:txBody>
                  <a:tcPr anchor="ctr"/>
                </a:tc>
                <a:tc>
                  <a:txBody>
                    <a:bodyPr/>
                    <a:lstStyle/>
                    <a:p>
                      <a:pPr algn="ctr"/>
                      <a:r>
                        <a:rPr lang="es-AR">
                          <a:effectLst/>
                        </a:rPr>
                        <a:t>UVB</a:t>
                      </a:r>
                    </a:p>
                  </a:txBody>
                  <a:tcPr anchor="ctr"/>
                </a:tc>
                <a:tc>
                  <a:txBody>
                    <a:bodyPr/>
                    <a:lstStyle/>
                    <a:p>
                      <a:pPr algn="ctr"/>
                      <a:r>
                        <a:rPr lang="es-AR">
                          <a:effectLst/>
                        </a:rPr>
                        <a:t>315 – 280</a:t>
                      </a:r>
                    </a:p>
                  </a:txBody>
                  <a:tcPr anchor="ctr"/>
                </a:tc>
                <a:tc>
                  <a:txBody>
                    <a:bodyPr/>
                    <a:lstStyle/>
                    <a:p>
                      <a:pPr algn="ctr"/>
                      <a:r>
                        <a:rPr lang="es-AR" dirty="0">
                          <a:effectLst/>
                        </a:rPr>
                        <a:t>3,94 – 4,43</a:t>
                      </a:r>
                    </a:p>
                  </a:txBody>
                  <a:tcPr anchor="ctr"/>
                </a:tc>
                <a:extLst>
                  <a:ext uri="{0D108BD9-81ED-4DB2-BD59-A6C34878D82A}">
                    <a16:rowId xmlns:a16="http://schemas.microsoft.com/office/drawing/2014/main" val="10002"/>
                  </a:ext>
                </a:extLst>
              </a:tr>
              <a:tr h="645761">
                <a:tc>
                  <a:txBody>
                    <a:bodyPr/>
                    <a:lstStyle/>
                    <a:p>
                      <a:r>
                        <a:rPr lang="es-AR" dirty="0">
                          <a:effectLst/>
                        </a:rPr>
                        <a:t>Ultravioleta C </a:t>
                      </a:r>
                      <a:endParaRPr lang="es-AR" dirty="0" smtClean="0">
                        <a:effectLst/>
                      </a:endParaRPr>
                    </a:p>
                    <a:p>
                      <a:r>
                        <a:rPr lang="es-AR" dirty="0" smtClean="0">
                          <a:effectLst/>
                        </a:rPr>
                        <a:t>(</a:t>
                      </a:r>
                      <a:r>
                        <a:rPr lang="es-AR" dirty="0">
                          <a:effectLst/>
                        </a:rPr>
                        <a:t>onda corta)</a:t>
                      </a:r>
                    </a:p>
                  </a:txBody>
                  <a:tcPr anchor="ctr"/>
                </a:tc>
                <a:tc>
                  <a:txBody>
                    <a:bodyPr/>
                    <a:lstStyle/>
                    <a:p>
                      <a:pPr algn="ctr"/>
                      <a:r>
                        <a:rPr lang="es-AR">
                          <a:effectLst/>
                        </a:rPr>
                        <a:t>UVC</a:t>
                      </a:r>
                    </a:p>
                  </a:txBody>
                  <a:tcPr anchor="ctr"/>
                </a:tc>
                <a:tc>
                  <a:txBody>
                    <a:bodyPr/>
                    <a:lstStyle/>
                    <a:p>
                      <a:pPr algn="ctr"/>
                      <a:r>
                        <a:rPr lang="es-AR">
                          <a:effectLst/>
                        </a:rPr>
                        <a:t>280 – 100</a:t>
                      </a:r>
                    </a:p>
                  </a:txBody>
                  <a:tcPr anchor="ctr"/>
                </a:tc>
                <a:tc>
                  <a:txBody>
                    <a:bodyPr/>
                    <a:lstStyle/>
                    <a:p>
                      <a:pPr algn="ctr"/>
                      <a:r>
                        <a:rPr lang="es-AR" dirty="0">
                          <a:effectLst/>
                        </a:rPr>
                        <a:t>4,43 – 12,40</a:t>
                      </a:r>
                    </a:p>
                  </a:txBody>
                  <a:tcPr anchor="ctr"/>
                </a:tc>
                <a:extLst>
                  <a:ext uri="{0D108BD9-81ED-4DB2-BD59-A6C34878D82A}">
                    <a16:rowId xmlns:a16="http://schemas.microsoft.com/office/drawing/2014/main" val="10003"/>
                  </a:ext>
                </a:extLst>
              </a:tr>
              <a:tr h="645761">
                <a:tc>
                  <a:txBody>
                    <a:bodyPr/>
                    <a:lstStyle/>
                    <a:p>
                      <a:r>
                        <a:rPr lang="es-AR">
                          <a:effectLst/>
                        </a:rPr>
                        <a:t>Ultravioleta cercano </a:t>
                      </a:r>
                      <a:r>
                        <a:rPr lang="es-AR" i="1">
                          <a:effectLst/>
                        </a:rPr>
                        <a:t>(near)</a:t>
                      </a:r>
                      <a:endParaRPr lang="es-AR">
                        <a:effectLst/>
                      </a:endParaRPr>
                    </a:p>
                  </a:txBody>
                  <a:tcPr anchor="ctr"/>
                </a:tc>
                <a:tc>
                  <a:txBody>
                    <a:bodyPr/>
                    <a:lstStyle/>
                    <a:p>
                      <a:pPr algn="ctr"/>
                      <a:r>
                        <a:rPr lang="es-AR">
                          <a:effectLst/>
                        </a:rPr>
                        <a:t>NUV</a:t>
                      </a:r>
                    </a:p>
                  </a:txBody>
                  <a:tcPr anchor="ctr"/>
                </a:tc>
                <a:tc>
                  <a:txBody>
                    <a:bodyPr/>
                    <a:lstStyle/>
                    <a:p>
                      <a:pPr algn="ctr"/>
                      <a:r>
                        <a:rPr lang="es-AR">
                          <a:effectLst/>
                        </a:rPr>
                        <a:t>400 – 300</a:t>
                      </a:r>
                    </a:p>
                  </a:txBody>
                  <a:tcPr anchor="ctr"/>
                </a:tc>
                <a:tc>
                  <a:txBody>
                    <a:bodyPr/>
                    <a:lstStyle/>
                    <a:p>
                      <a:pPr algn="ctr"/>
                      <a:r>
                        <a:rPr lang="es-AR" dirty="0">
                          <a:effectLst/>
                        </a:rPr>
                        <a:t>3,10 – 4,13</a:t>
                      </a:r>
                    </a:p>
                  </a:txBody>
                  <a:tcPr anchor="ctr"/>
                </a:tc>
                <a:extLst>
                  <a:ext uri="{0D108BD9-81ED-4DB2-BD59-A6C34878D82A}">
                    <a16:rowId xmlns:a16="http://schemas.microsoft.com/office/drawing/2014/main" val="10004"/>
                  </a:ext>
                </a:extLst>
              </a:tr>
              <a:tr h="645761">
                <a:tc>
                  <a:txBody>
                    <a:bodyPr/>
                    <a:lstStyle/>
                    <a:p>
                      <a:r>
                        <a:rPr lang="es-AR">
                          <a:effectLst/>
                        </a:rPr>
                        <a:t>Ultravioleta medio </a:t>
                      </a:r>
                      <a:r>
                        <a:rPr lang="es-AR" i="1">
                          <a:effectLst/>
                        </a:rPr>
                        <a:t>(middle)</a:t>
                      </a:r>
                      <a:endParaRPr lang="es-AR">
                        <a:effectLst/>
                      </a:endParaRPr>
                    </a:p>
                  </a:txBody>
                  <a:tcPr anchor="ctr"/>
                </a:tc>
                <a:tc>
                  <a:txBody>
                    <a:bodyPr/>
                    <a:lstStyle/>
                    <a:p>
                      <a:pPr algn="ctr"/>
                      <a:r>
                        <a:rPr lang="es-AR">
                          <a:effectLst/>
                        </a:rPr>
                        <a:t>MUV</a:t>
                      </a:r>
                    </a:p>
                  </a:txBody>
                  <a:tcPr anchor="ctr"/>
                </a:tc>
                <a:tc>
                  <a:txBody>
                    <a:bodyPr/>
                    <a:lstStyle/>
                    <a:p>
                      <a:pPr algn="ctr"/>
                      <a:r>
                        <a:rPr lang="es-AR">
                          <a:effectLst/>
                        </a:rPr>
                        <a:t>300 – 200</a:t>
                      </a:r>
                    </a:p>
                  </a:txBody>
                  <a:tcPr anchor="ctr"/>
                </a:tc>
                <a:tc>
                  <a:txBody>
                    <a:bodyPr/>
                    <a:lstStyle/>
                    <a:p>
                      <a:pPr algn="ctr"/>
                      <a:r>
                        <a:rPr lang="es-AR" dirty="0">
                          <a:effectLst/>
                        </a:rPr>
                        <a:t>4,13 – 6,20</a:t>
                      </a:r>
                    </a:p>
                  </a:txBody>
                  <a:tcPr anchor="ctr"/>
                </a:tc>
                <a:extLst>
                  <a:ext uri="{0D108BD9-81ED-4DB2-BD59-A6C34878D82A}">
                    <a16:rowId xmlns:a16="http://schemas.microsoft.com/office/drawing/2014/main" val="10005"/>
                  </a:ext>
                </a:extLst>
              </a:tr>
              <a:tr h="442469">
                <a:tc>
                  <a:txBody>
                    <a:bodyPr/>
                    <a:lstStyle/>
                    <a:p>
                      <a:r>
                        <a:rPr lang="es-AR">
                          <a:effectLst/>
                        </a:rPr>
                        <a:t>Ultravioleta lejano </a:t>
                      </a:r>
                      <a:r>
                        <a:rPr lang="es-AR" i="1">
                          <a:effectLst/>
                        </a:rPr>
                        <a:t>(far)</a:t>
                      </a:r>
                      <a:endParaRPr lang="es-AR">
                        <a:effectLst/>
                      </a:endParaRPr>
                    </a:p>
                  </a:txBody>
                  <a:tcPr anchor="ctr"/>
                </a:tc>
                <a:tc>
                  <a:txBody>
                    <a:bodyPr/>
                    <a:lstStyle/>
                    <a:p>
                      <a:pPr algn="ctr"/>
                      <a:r>
                        <a:rPr lang="es-AR">
                          <a:effectLst/>
                        </a:rPr>
                        <a:t>FUV</a:t>
                      </a:r>
                    </a:p>
                  </a:txBody>
                  <a:tcPr anchor="ctr"/>
                </a:tc>
                <a:tc>
                  <a:txBody>
                    <a:bodyPr/>
                    <a:lstStyle/>
                    <a:p>
                      <a:pPr algn="ctr"/>
                      <a:r>
                        <a:rPr lang="es-AR">
                          <a:effectLst/>
                        </a:rPr>
                        <a:t>200 – 122</a:t>
                      </a:r>
                    </a:p>
                  </a:txBody>
                  <a:tcPr anchor="ctr"/>
                </a:tc>
                <a:tc>
                  <a:txBody>
                    <a:bodyPr/>
                    <a:lstStyle/>
                    <a:p>
                      <a:pPr algn="ctr"/>
                      <a:r>
                        <a:rPr lang="es-AR" dirty="0">
                          <a:effectLst/>
                        </a:rPr>
                        <a:t>6,20 – 10,16</a:t>
                      </a:r>
                    </a:p>
                  </a:txBody>
                  <a:tcPr anchor="ctr"/>
                </a:tc>
                <a:extLst>
                  <a:ext uri="{0D108BD9-81ED-4DB2-BD59-A6C34878D82A}">
                    <a16:rowId xmlns:a16="http://schemas.microsoft.com/office/drawing/2014/main" val="10006"/>
                  </a:ext>
                </a:extLst>
              </a:tr>
              <a:tr h="442469">
                <a:tc>
                  <a:txBody>
                    <a:bodyPr/>
                    <a:lstStyle/>
                    <a:p>
                      <a:r>
                        <a:rPr lang="es-AR">
                          <a:effectLst/>
                        </a:rPr>
                        <a:t>Línea Lyman-alpha</a:t>
                      </a:r>
                    </a:p>
                  </a:txBody>
                  <a:tcPr anchor="ctr"/>
                </a:tc>
                <a:tc>
                  <a:txBody>
                    <a:bodyPr/>
                    <a:lstStyle/>
                    <a:p>
                      <a:pPr algn="ctr"/>
                      <a:r>
                        <a:rPr lang="es-AR">
                          <a:effectLst/>
                        </a:rPr>
                        <a:t>H Lyman-</a:t>
                      </a:r>
                      <a:r>
                        <a:rPr lang="el-GR">
                          <a:effectLst/>
                        </a:rPr>
                        <a:t>α / </a:t>
                      </a:r>
                      <a:r>
                        <a:rPr lang="es-AR">
                          <a:effectLst/>
                        </a:rPr>
                        <a:t>Ly-</a:t>
                      </a:r>
                      <a:r>
                        <a:rPr lang="el-GR">
                          <a:effectLst/>
                        </a:rPr>
                        <a:t>α</a:t>
                      </a:r>
                    </a:p>
                  </a:txBody>
                  <a:tcPr anchor="ctr"/>
                </a:tc>
                <a:tc>
                  <a:txBody>
                    <a:bodyPr/>
                    <a:lstStyle/>
                    <a:p>
                      <a:pPr algn="ctr"/>
                      <a:r>
                        <a:rPr lang="es-AR">
                          <a:effectLst/>
                        </a:rPr>
                        <a:t>122 – 121</a:t>
                      </a:r>
                    </a:p>
                  </a:txBody>
                  <a:tcPr anchor="ctr"/>
                </a:tc>
                <a:tc>
                  <a:txBody>
                    <a:bodyPr/>
                    <a:lstStyle/>
                    <a:p>
                      <a:pPr algn="ctr"/>
                      <a:r>
                        <a:rPr lang="es-AR" dirty="0">
                          <a:effectLst/>
                        </a:rPr>
                        <a:t>10,16 – 10,25</a:t>
                      </a:r>
                    </a:p>
                  </a:txBody>
                  <a:tcPr anchor="ctr"/>
                </a:tc>
                <a:extLst>
                  <a:ext uri="{0D108BD9-81ED-4DB2-BD59-A6C34878D82A}">
                    <a16:rowId xmlns:a16="http://schemas.microsoft.com/office/drawing/2014/main" val="10007"/>
                  </a:ext>
                </a:extLst>
              </a:tr>
              <a:tr h="442469">
                <a:tc>
                  <a:txBody>
                    <a:bodyPr/>
                    <a:lstStyle/>
                    <a:p>
                      <a:r>
                        <a:rPr lang="es-AR">
                          <a:effectLst/>
                        </a:rPr>
                        <a:t>Ultravioleta de vacío</a:t>
                      </a:r>
                    </a:p>
                  </a:txBody>
                  <a:tcPr anchor="ctr"/>
                </a:tc>
                <a:tc>
                  <a:txBody>
                    <a:bodyPr/>
                    <a:lstStyle/>
                    <a:p>
                      <a:pPr algn="ctr"/>
                      <a:r>
                        <a:rPr lang="es-AR">
                          <a:effectLst/>
                        </a:rPr>
                        <a:t>VUV</a:t>
                      </a:r>
                    </a:p>
                  </a:txBody>
                  <a:tcPr anchor="ctr"/>
                </a:tc>
                <a:tc>
                  <a:txBody>
                    <a:bodyPr/>
                    <a:lstStyle/>
                    <a:p>
                      <a:pPr algn="ctr"/>
                      <a:r>
                        <a:rPr lang="es-AR">
                          <a:effectLst/>
                        </a:rPr>
                        <a:t>200 – 10</a:t>
                      </a:r>
                    </a:p>
                  </a:txBody>
                  <a:tcPr anchor="ctr"/>
                </a:tc>
                <a:tc>
                  <a:txBody>
                    <a:bodyPr/>
                    <a:lstStyle/>
                    <a:p>
                      <a:pPr algn="ctr"/>
                      <a:r>
                        <a:rPr lang="es-AR" dirty="0">
                          <a:effectLst/>
                        </a:rPr>
                        <a:t>6,20 – 124</a:t>
                      </a:r>
                    </a:p>
                  </a:txBody>
                  <a:tcPr anchor="ctr"/>
                </a:tc>
                <a:extLst>
                  <a:ext uri="{0D108BD9-81ED-4DB2-BD59-A6C34878D82A}">
                    <a16:rowId xmlns:a16="http://schemas.microsoft.com/office/drawing/2014/main" val="10008"/>
                  </a:ext>
                </a:extLst>
              </a:tr>
              <a:tr h="442469">
                <a:tc>
                  <a:txBody>
                    <a:bodyPr/>
                    <a:lstStyle/>
                    <a:p>
                      <a:r>
                        <a:rPr lang="es-AR" u="none" strike="noStrike">
                          <a:solidFill>
                            <a:srgbClr val="0B0080"/>
                          </a:solidFill>
                          <a:effectLst/>
                          <a:hlinkClick r:id="rId2" tooltip="Radiación ultravioleta extrema"/>
                        </a:rPr>
                        <a:t>Ultravioleta extremo</a:t>
                      </a:r>
                      <a:endParaRPr lang="es-AR">
                        <a:effectLst/>
                      </a:endParaRPr>
                    </a:p>
                  </a:txBody>
                  <a:tcPr anchor="ctr"/>
                </a:tc>
                <a:tc>
                  <a:txBody>
                    <a:bodyPr/>
                    <a:lstStyle/>
                    <a:p>
                      <a:pPr algn="ctr"/>
                      <a:r>
                        <a:rPr lang="es-AR">
                          <a:effectLst/>
                        </a:rPr>
                        <a:t>EUV</a:t>
                      </a:r>
                    </a:p>
                  </a:txBody>
                  <a:tcPr anchor="ctr"/>
                </a:tc>
                <a:tc>
                  <a:txBody>
                    <a:bodyPr/>
                    <a:lstStyle/>
                    <a:p>
                      <a:pPr algn="ctr"/>
                      <a:r>
                        <a:rPr lang="es-AR">
                          <a:effectLst/>
                        </a:rPr>
                        <a:t>121 – 10</a:t>
                      </a:r>
                    </a:p>
                  </a:txBody>
                  <a:tcPr anchor="ctr"/>
                </a:tc>
                <a:tc>
                  <a:txBody>
                    <a:bodyPr/>
                    <a:lstStyle/>
                    <a:p>
                      <a:pPr algn="ctr"/>
                      <a:r>
                        <a:rPr lang="es-AR" dirty="0">
                          <a:effectLst/>
                        </a:rPr>
                        <a:t>10,25 – 124</a:t>
                      </a:r>
                    </a:p>
                  </a:txBody>
                  <a:tcPr anchor="ct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391173021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157</TotalTime>
  <Words>185</Words>
  <Application>Microsoft Office PowerPoint</Application>
  <PresentationFormat>Panorámica</PresentationFormat>
  <Paragraphs>114</Paragraphs>
  <Slides>12</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12</vt:i4>
      </vt:variant>
    </vt:vector>
  </HeadingPairs>
  <TitlesOfParts>
    <vt:vector size="17" baseType="lpstr">
      <vt:lpstr>Arial</vt:lpstr>
      <vt:lpstr>Cambria Math</vt:lpstr>
      <vt:lpstr>Century Gothic</vt:lpstr>
      <vt:lpstr>Wingdings 3</vt:lpstr>
      <vt:lpstr>Ion</vt:lpstr>
      <vt:lpstr>    OPTOELECTRÓNICA</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Radiación infrarroja</vt:lpstr>
      <vt:lpstr>Radiación ultravioleta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UNIDAD TEMÁTICA N° 6: OTOELECTRÓNICA</dc:title>
  <dc:creator>Carlos</dc:creator>
  <cp:lastModifiedBy>Constanza</cp:lastModifiedBy>
  <cp:revision>59</cp:revision>
  <dcterms:created xsi:type="dcterms:W3CDTF">2020-08-24T22:11:36Z</dcterms:created>
  <dcterms:modified xsi:type="dcterms:W3CDTF">2023-09-16T10:28:03Z</dcterms:modified>
</cp:coreProperties>
</file>