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97" r:id="rId3"/>
    <p:sldId id="298" r:id="rId4"/>
    <p:sldId id="292" r:id="rId5"/>
    <p:sldId id="293" r:id="rId6"/>
    <p:sldId id="295" r:id="rId7"/>
    <p:sldId id="296" r:id="rId8"/>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85" d="100"/>
          <a:sy n="85" d="100"/>
        </p:scale>
        <p:origin x="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1133272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429781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458905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139199AB-3286-4BEF-8864-68976EA0ED19}" type="datetimeFigureOut">
              <a:rPr lang="es-AR" smtClean="0"/>
              <a:t>1/9/2020</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992588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139199AB-3286-4BEF-8864-68976EA0ED19}" type="datetimeFigureOut">
              <a:rPr lang="es-AR" smtClean="0"/>
              <a:t>1/9/2020</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223181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3"/>
          <p:cNvSpPr>
            <a:spLocks noGrp="1"/>
          </p:cNvSpPr>
          <p:nvPr>
            <p:ph type="ftr" sz="quarter" idx="11"/>
          </p:nvPr>
        </p:nvSpPr>
        <p:spPr/>
        <p:txBody>
          <a:bodyPr/>
          <a:lstStyle/>
          <a:p>
            <a:endParaRPr lang="es-AR"/>
          </a:p>
        </p:txBody>
      </p:sp>
      <p:sp>
        <p:nvSpPr>
          <p:cNvPr id="6" name="Slide Number Placeholder 4"/>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21450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2"/>
          <p:cNvSpPr>
            <a:spLocks noGrp="1"/>
          </p:cNvSpPr>
          <p:nvPr>
            <p:ph type="ftr" sz="quarter" idx="11"/>
          </p:nvPr>
        </p:nvSpPr>
        <p:spPr/>
        <p:txBody>
          <a:bodyPr/>
          <a:lstStyle/>
          <a:p>
            <a:endParaRPr lang="es-AR"/>
          </a:p>
        </p:txBody>
      </p:sp>
      <p:sp>
        <p:nvSpPr>
          <p:cNvPr id="6" name="Slide Number Placeholder 3"/>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607075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7" name="Date Placeholder 4"/>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5"/>
          <p:cNvSpPr>
            <a:spLocks noGrp="1"/>
          </p:cNvSpPr>
          <p:nvPr>
            <p:ph type="ftr" sz="quarter" idx="11"/>
          </p:nvPr>
        </p:nvSpPr>
        <p:spPr/>
        <p:txBody>
          <a:bodyPr/>
          <a:lstStyle/>
          <a:p>
            <a:endParaRPr lang="es-AR"/>
          </a:p>
        </p:txBody>
      </p:sp>
      <p:sp>
        <p:nvSpPr>
          <p:cNvPr id="6" name="Slide Number Placeholder 6"/>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824911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139199AB-3286-4BEF-8864-68976EA0ED19}" type="datetimeFigureOut">
              <a:rPr lang="es-AR" smtClean="0"/>
              <a:t>1/9/2020</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1935083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139199AB-3286-4BEF-8864-68976EA0ED19}" type="datetimeFigureOut">
              <a:rPr lang="es-AR" smtClean="0"/>
              <a:t>1/9/2020</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1403567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2175180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Haga clic para modificar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31530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899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4"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1976609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4"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743746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5737228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39199AB-3286-4BEF-8864-68976EA0ED19}" type="datetimeFigureOut">
              <a:rPr lang="es-AR" smtClean="0"/>
              <a:t>1/9/2020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030205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39199AB-3286-4BEF-8864-68976EA0ED19}" type="datetimeFigureOut">
              <a:rPr lang="es-AR" smtClean="0"/>
              <a:t>1/9/2020</a:t>
            </a:fld>
            <a:endParaRPr lang="es-A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266AB5F-3926-4318-A54A-334670480768}" type="slidenum">
              <a:rPr lang="es-AR" smtClean="0"/>
              <a:t>‹Nº›</a:t>
            </a:fld>
            <a:endParaRPr lang="es-AR"/>
          </a:p>
        </p:txBody>
      </p:sp>
    </p:spTree>
    <p:extLst>
      <p:ext uri="{BB962C8B-B14F-4D97-AF65-F5344CB8AC3E}">
        <p14:creationId xmlns:p14="http://schemas.microsoft.com/office/powerpoint/2010/main" val="328202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hyperlink" Target="https://unicrom.com/voltaje-tension-concepto/"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unicrom.com/campo-electrico-lineas-de-fuerza/"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unicrom.com/lcd-display-de-cristal-liquido/"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unicrom.com/funcionamiento-pilas-baterias/"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62288" y="225779"/>
            <a:ext cx="11681356" cy="6632222"/>
          </a:xfrm>
        </p:spPr>
        <p:txBody>
          <a:bodyPr/>
          <a:lstStyle/>
          <a:p>
            <a:pPr algn="ctr"/>
            <a:r>
              <a:rPr lang="es-AR" dirty="0" smtClean="0"/>
              <a:t/>
            </a:r>
            <a:br>
              <a:rPr lang="es-AR" dirty="0" smtClean="0"/>
            </a:br>
            <a:r>
              <a:rPr lang="es-AR" dirty="0"/>
              <a:t/>
            </a:r>
            <a:br>
              <a:rPr lang="es-AR" dirty="0"/>
            </a:br>
            <a:r>
              <a:rPr lang="es-AR" dirty="0" smtClean="0"/>
              <a:t/>
            </a:r>
            <a:br>
              <a:rPr lang="es-AR" dirty="0" smtClean="0"/>
            </a:br>
            <a:r>
              <a:rPr lang="es-AR" sz="7200" dirty="0" smtClean="0"/>
              <a:t>CRISTALES LÍQUIDOS </a:t>
            </a:r>
            <a:br>
              <a:rPr lang="es-AR" sz="7200" dirty="0" smtClean="0"/>
            </a:br>
            <a:r>
              <a:rPr lang="es-AR" sz="7200" dirty="0" smtClean="0"/>
              <a:t>(LCD)</a:t>
            </a:r>
            <a:endParaRPr lang="es-AR" sz="7200" dirty="0"/>
          </a:p>
        </p:txBody>
      </p:sp>
    </p:spTree>
    <p:extLst>
      <p:ext uri="{BB962C8B-B14F-4D97-AF65-F5344CB8AC3E}">
        <p14:creationId xmlns:p14="http://schemas.microsoft.com/office/powerpoint/2010/main" val="3427230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93511" y="259645"/>
            <a:ext cx="11638845" cy="10002738"/>
          </a:xfrm>
          <a:prstGeom prst="rect">
            <a:avLst/>
          </a:prstGeom>
        </p:spPr>
        <p:txBody>
          <a:bodyPr wrap="square">
            <a:spAutoFit/>
          </a:bodyPr>
          <a:lstStyle/>
          <a:p>
            <a:r>
              <a:rPr lang="es-AR" sz="2800" b="1" dirty="0">
                <a:solidFill>
                  <a:schemeClr val="accent3"/>
                </a:solidFill>
                <a:latin typeface="+mj-lt"/>
              </a:rPr>
              <a:t>¿Cómo funciona un </a:t>
            </a:r>
            <a:r>
              <a:rPr lang="es-AR" sz="2800" b="1" dirty="0" err="1">
                <a:solidFill>
                  <a:schemeClr val="accent3"/>
                </a:solidFill>
                <a:latin typeface="+mj-lt"/>
              </a:rPr>
              <a:t>Display</a:t>
            </a:r>
            <a:r>
              <a:rPr lang="es-AR" sz="2800" b="1" dirty="0">
                <a:solidFill>
                  <a:schemeClr val="accent3"/>
                </a:solidFill>
                <a:latin typeface="+mj-lt"/>
              </a:rPr>
              <a:t> LCD?</a:t>
            </a:r>
          </a:p>
          <a:p>
            <a:endParaRPr lang="es-AR" sz="2800" b="1" dirty="0" smtClean="0">
              <a:solidFill>
                <a:schemeClr val="accent3"/>
              </a:solidFill>
              <a:latin typeface="+mj-lt"/>
            </a:endParaRPr>
          </a:p>
          <a:p>
            <a:r>
              <a:rPr lang="es-AR" sz="2800" b="1" dirty="0" smtClean="0">
                <a:solidFill>
                  <a:schemeClr val="accent3"/>
                </a:solidFill>
                <a:latin typeface="+mj-lt"/>
              </a:rPr>
              <a:t>El</a:t>
            </a:r>
            <a:r>
              <a:rPr lang="es-AR" sz="2800" b="1" dirty="0">
                <a:solidFill>
                  <a:schemeClr val="accent3"/>
                </a:solidFill>
                <a:latin typeface="+mj-lt"/>
              </a:rPr>
              <a:t> LCD modifica la luz que lo incide. Dependiendo de la polarización que se esté aplicando, el LCD reflejará o absorberá más o menos luz. Cuando un segmento recibe la </a:t>
            </a:r>
            <a:r>
              <a:rPr lang="es-AR" sz="2800" b="1" dirty="0">
                <a:solidFill>
                  <a:schemeClr val="accent3"/>
                </a:solidFill>
                <a:latin typeface="+mj-lt"/>
                <a:hlinkClick r:id="rId2" tooltip="Voltaje / tensión"/>
              </a:rPr>
              <a:t>tensión</a:t>
            </a:r>
            <a:r>
              <a:rPr lang="es-AR" sz="2800" b="1" dirty="0">
                <a:solidFill>
                  <a:schemeClr val="accent3"/>
                </a:solidFill>
                <a:latin typeface="+mj-lt"/>
              </a:rPr>
              <a:t> de polarización adecuada no reflejará la luz y aparecerá en la pantalla del dispositivo como un segmento oscuro. Seguro que más de un lector habrá visto este fenómeno en calculadoras, relojes, etc.</a:t>
            </a:r>
          </a:p>
          <a:p>
            <a:endParaRPr lang="es-AR" sz="2800" b="1" dirty="0" smtClean="0">
              <a:solidFill>
                <a:schemeClr val="accent3"/>
              </a:solidFill>
              <a:latin typeface="+mj-lt"/>
            </a:endParaRPr>
          </a:p>
          <a:p>
            <a:r>
              <a:rPr lang="es-AR" sz="2800" b="1" dirty="0" smtClean="0">
                <a:solidFill>
                  <a:schemeClr val="accent3"/>
                </a:solidFill>
                <a:latin typeface="+mj-lt"/>
              </a:rPr>
              <a:t>El </a:t>
            </a:r>
            <a:r>
              <a:rPr lang="es-AR" sz="2800" b="1" dirty="0">
                <a:solidFill>
                  <a:schemeClr val="accent3"/>
                </a:solidFill>
                <a:latin typeface="+mj-lt"/>
              </a:rPr>
              <a:t>líquido de un </a:t>
            </a:r>
            <a:r>
              <a:rPr lang="es-AR" sz="2800" b="1" dirty="0" err="1">
                <a:solidFill>
                  <a:schemeClr val="accent3"/>
                </a:solidFill>
                <a:latin typeface="+mj-lt"/>
              </a:rPr>
              <a:t>display</a:t>
            </a:r>
            <a:r>
              <a:rPr lang="es-AR" sz="2800" b="1" dirty="0">
                <a:solidFill>
                  <a:schemeClr val="accent3"/>
                </a:solidFill>
                <a:latin typeface="+mj-lt"/>
              </a:rPr>
              <a:t> LCD está entre dos placas de vidrio paralelas con una separación de unos micrones. Estas placas de vidrio tienen unos electrodos especiales que definen, con su forma, los símbolos, caracteres, etc. que se visualizarán</a:t>
            </a:r>
            <a:r>
              <a:rPr lang="es-AR" sz="2800" b="1" dirty="0" smtClean="0">
                <a:solidFill>
                  <a:schemeClr val="accent3"/>
                </a:solidFill>
                <a:latin typeface="+mj-lt"/>
              </a:rPr>
              <a:t>.</a:t>
            </a: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p:txBody>
      </p:sp>
    </p:spTree>
    <p:extLst>
      <p:ext uri="{BB962C8B-B14F-4D97-AF65-F5344CB8AC3E}">
        <p14:creationId xmlns:p14="http://schemas.microsoft.com/office/powerpoint/2010/main" val="1941147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14489" y="237067"/>
            <a:ext cx="11796889" cy="8279190"/>
          </a:xfrm>
          <a:prstGeom prst="rect">
            <a:avLst/>
          </a:prstGeom>
        </p:spPr>
        <p:txBody>
          <a:bodyPr wrap="square">
            <a:spAutoFit/>
          </a:bodyPr>
          <a:lstStyle/>
          <a:p>
            <a:r>
              <a:rPr lang="es-AR" sz="2800" b="1" dirty="0">
                <a:solidFill>
                  <a:schemeClr val="accent3"/>
                </a:solidFill>
                <a:latin typeface="+mj-lt"/>
              </a:rPr>
              <a:t>La superficie del vidrio que hace contacto con el líquido es tratada de manera que induzca la alineación de los cristales en dirección paralela a las placas. </a:t>
            </a:r>
            <a:endParaRPr lang="es-AR" sz="2800" b="1" dirty="0" smtClean="0">
              <a:solidFill>
                <a:schemeClr val="accent3"/>
              </a:solidFill>
              <a:latin typeface="+mj-lt"/>
            </a:endParaRPr>
          </a:p>
          <a:p>
            <a:endParaRPr lang="es-AR" sz="2800" b="1" dirty="0">
              <a:solidFill>
                <a:schemeClr val="accent3"/>
              </a:solidFill>
              <a:latin typeface="+mj-lt"/>
            </a:endParaRPr>
          </a:p>
          <a:p>
            <a:r>
              <a:rPr lang="es-AR" sz="2800" b="1" dirty="0" smtClean="0">
                <a:solidFill>
                  <a:schemeClr val="accent3"/>
                </a:solidFill>
                <a:latin typeface="+mj-lt"/>
              </a:rPr>
              <a:t>Esta </a:t>
            </a:r>
            <a:r>
              <a:rPr lang="es-AR" sz="2800" b="1" dirty="0">
                <a:solidFill>
                  <a:schemeClr val="accent3"/>
                </a:solidFill>
                <a:latin typeface="+mj-lt"/>
              </a:rPr>
              <a:t>alineación permite el paso de la luz incidente sin ninguna alteración.</a:t>
            </a:r>
          </a:p>
          <a:p>
            <a:endParaRPr lang="es-AR" sz="2800" b="1" dirty="0" smtClean="0">
              <a:solidFill>
                <a:schemeClr val="accent3"/>
              </a:solidFill>
              <a:latin typeface="+mj-lt"/>
            </a:endParaRPr>
          </a:p>
          <a:p>
            <a:r>
              <a:rPr lang="es-AR" sz="2800" b="1" dirty="0" smtClean="0">
                <a:solidFill>
                  <a:schemeClr val="accent3"/>
                </a:solidFill>
                <a:latin typeface="+mj-lt"/>
              </a:rPr>
              <a:t>Cuando </a:t>
            </a:r>
            <a:r>
              <a:rPr lang="es-AR" sz="2800" b="1" dirty="0">
                <a:solidFill>
                  <a:schemeClr val="accent3"/>
                </a:solidFill>
                <a:latin typeface="+mj-lt"/>
              </a:rPr>
              <a:t>se aplica la polarización adecuada entre los electrodos, aparece un </a:t>
            </a:r>
            <a:r>
              <a:rPr lang="es-AR" sz="2800" b="1" dirty="0">
                <a:solidFill>
                  <a:schemeClr val="accent3"/>
                </a:solidFill>
                <a:latin typeface="+mj-lt"/>
                <a:hlinkClick r:id="rId2" tooltip="Campo eléctrico"/>
              </a:rPr>
              <a:t>campo eléctrico</a:t>
            </a:r>
            <a:r>
              <a:rPr lang="es-AR" sz="2800" b="1" dirty="0">
                <a:solidFill>
                  <a:schemeClr val="accent3"/>
                </a:solidFill>
                <a:latin typeface="+mj-lt"/>
              </a:rPr>
              <a:t> entre estos electrodos </a:t>
            </a:r>
            <a:endParaRPr lang="es-AR" sz="2800" b="1" dirty="0" smtClean="0">
              <a:solidFill>
                <a:schemeClr val="accent3"/>
              </a:solidFill>
              <a:latin typeface="+mj-lt"/>
            </a:endParaRPr>
          </a:p>
          <a:p>
            <a:r>
              <a:rPr lang="es-AR" sz="2800" b="1" dirty="0" smtClean="0">
                <a:solidFill>
                  <a:schemeClr val="accent3"/>
                </a:solidFill>
                <a:latin typeface="+mj-lt"/>
              </a:rPr>
              <a:t>(</a:t>
            </a:r>
            <a:r>
              <a:rPr lang="es-AR" sz="2800" b="1" dirty="0">
                <a:solidFill>
                  <a:schemeClr val="accent3"/>
                </a:solidFill>
                <a:latin typeface="+mj-lt"/>
              </a:rPr>
              <a:t>campo que es perpendicular a las placas) y esto causa que las moléculas del líquido se agrupen en sentido paralelo a </a:t>
            </a:r>
            <a:r>
              <a:rPr lang="es-AR" sz="2800" b="1">
                <a:solidFill>
                  <a:schemeClr val="accent3"/>
                </a:solidFill>
                <a:latin typeface="+mj-lt"/>
              </a:rPr>
              <a:t>éste </a:t>
            </a:r>
            <a:endParaRPr lang="es-AR" sz="2800" b="1" smtClean="0">
              <a:solidFill>
                <a:schemeClr val="accent3"/>
              </a:solidFill>
              <a:latin typeface="+mj-lt"/>
            </a:endParaRPr>
          </a:p>
          <a:p>
            <a:r>
              <a:rPr lang="es-AR" sz="2800" b="1" smtClean="0">
                <a:solidFill>
                  <a:schemeClr val="accent3"/>
                </a:solidFill>
                <a:latin typeface="+mj-lt"/>
              </a:rPr>
              <a:t>(</a:t>
            </a:r>
            <a:r>
              <a:rPr lang="es-AR" sz="2800" b="1" dirty="0">
                <a:solidFill>
                  <a:schemeClr val="accent3"/>
                </a:solidFill>
                <a:latin typeface="+mj-lt"/>
              </a:rPr>
              <a:t>el campo eléctrico) y cause que aparezca una zona oscura sobre un fondo claro (contraste positivo). </a:t>
            </a:r>
            <a:endParaRPr lang="es-AR" sz="2800" b="1" dirty="0" smtClean="0">
              <a:solidFill>
                <a:schemeClr val="accent3"/>
              </a:solidFill>
              <a:latin typeface="+mj-lt"/>
            </a:endParaRPr>
          </a:p>
          <a:p>
            <a:endParaRPr lang="es-AR" sz="2800" b="1" dirty="0">
              <a:solidFill>
                <a:schemeClr val="accent3"/>
              </a:solidFill>
              <a:latin typeface="+mj-lt"/>
            </a:endParaRPr>
          </a:p>
          <a:p>
            <a:r>
              <a:rPr lang="es-AR" sz="2800" b="1" dirty="0" smtClean="0">
                <a:solidFill>
                  <a:schemeClr val="accent3"/>
                </a:solidFill>
                <a:latin typeface="+mj-lt"/>
              </a:rPr>
              <a:t>De </a:t>
            </a:r>
            <a:r>
              <a:rPr lang="es-AR" sz="2800" b="1" dirty="0">
                <a:solidFill>
                  <a:schemeClr val="accent3"/>
                </a:solidFill>
                <a:latin typeface="+mj-lt"/>
              </a:rPr>
              <a:t>esta manera aparece la información que se desea mostrar</a:t>
            </a:r>
            <a:r>
              <a:rPr lang="es-AR" sz="2800" b="1" dirty="0" smtClean="0">
                <a:solidFill>
                  <a:schemeClr val="accent3"/>
                </a:solidFill>
                <a:latin typeface="+mj-lt"/>
              </a:rPr>
              <a:t>.</a:t>
            </a:r>
          </a:p>
          <a:p>
            <a:endParaRPr lang="es-AR" sz="2800" b="1" i="0" dirty="0">
              <a:solidFill>
                <a:schemeClr val="accent3"/>
              </a:solidFill>
              <a:effectLst/>
              <a:latin typeface="+mj-lt"/>
            </a:endParaRPr>
          </a:p>
          <a:p>
            <a:endParaRPr lang="es-AR" sz="2800" b="1" dirty="0" smtClean="0">
              <a:solidFill>
                <a:schemeClr val="accent3"/>
              </a:solidFill>
              <a:latin typeface="+mj-lt"/>
            </a:endParaRPr>
          </a:p>
          <a:p>
            <a:endParaRPr lang="es-AR" sz="2800" b="1" i="0" dirty="0">
              <a:solidFill>
                <a:schemeClr val="accent3"/>
              </a:solidFill>
              <a:effectLst/>
              <a:latin typeface="+mj-lt"/>
            </a:endParaRPr>
          </a:p>
          <a:p>
            <a:endParaRPr lang="es-AR" sz="2800" b="1" i="0" dirty="0">
              <a:solidFill>
                <a:schemeClr val="accent3"/>
              </a:solidFill>
              <a:effectLst/>
              <a:latin typeface="+mj-lt"/>
            </a:endParaRPr>
          </a:p>
        </p:txBody>
      </p:sp>
    </p:spTree>
    <p:extLst>
      <p:ext uri="{BB962C8B-B14F-4D97-AF65-F5344CB8AC3E}">
        <p14:creationId xmlns:p14="http://schemas.microsoft.com/office/powerpoint/2010/main" val="2121499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58044" y="158044"/>
            <a:ext cx="11774312" cy="12618839"/>
          </a:xfrm>
          <a:prstGeom prst="rect">
            <a:avLst/>
          </a:prstGeom>
        </p:spPr>
        <p:txBody>
          <a:bodyPr wrap="square">
            <a:spAutoFit/>
          </a:bodyPr>
          <a:lstStyle/>
          <a:p>
            <a:pPr algn="ctr"/>
            <a:endParaRPr lang="es-AR" sz="4000" b="1" i="1" dirty="0" smtClean="0">
              <a:solidFill>
                <a:schemeClr val="accent3"/>
              </a:solidFill>
              <a:latin typeface="-apple-system"/>
            </a:endParaRPr>
          </a:p>
          <a:p>
            <a:pPr algn="ctr"/>
            <a:r>
              <a:rPr lang="es-AR" sz="4000" b="1" i="1" dirty="0" smtClean="0">
                <a:solidFill>
                  <a:schemeClr val="accent3"/>
                </a:solidFill>
                <a:latin typeface="-apple-system"/>
              </a:rPr>
              <a:t>Modos </a:t>
            </a:r>
            <a:r>
              <a:rPr lang="es-AR" sz="4000" b="1" i="1" dirty="0">
                <a:solidFill>
                  <a:schemeClr val="accent3"/>
                </a:solidFill>
                <a:latin typeface="-apple-system"/>
              </a:rPr>
              <a:t>de visualización del </a:t>
            </a:r>
            <a:r>
              <a:rPr lang="es-AR" sz="4000" b="1" i="1" dirty="0" err="1">
                <a:solidFill>
                  <a:schemeClr val="accent3"/>
                </a:solidFill>
                <a:latin typeface="-apple-system"/>
              </a:rPr>
              <a:t>Display</a:t>
            </a:r>
            <a:r>
              <a:rPr lang="es-AR" sz="4000" b="1" i="1" dirty="0">
                <a:solidFill>
                  <a:schemeClr val="accent3"/>
                </a:solidFill>
                <a:latin typeface="-apple-system"/>
              </a:rPr>
              <a:t> LCD</a:t>
            </a:r>
          </a:p>
          <a:p>
            <a:endParaRPr lang="es-AR" sz="4000" dirty="0" smtClean="0">
              <a:solidFill>
                <a:schemeClr val="accent3"/>
              </a:solidFill>
              <a:latin typeface="-apple-system"/>
            </a:endParaRPr>
          </a:p>
          <a:p>
            <a:r>
              <a:rPr lang="es-AR" sz="4000" dirty="0" smtClean="0">
                <a:solidFill>
                  <a:schemeClr val="accent3"/>
                </a:solidFill>
                <a:latin typeface="-apple-system"/>
              </a:rPr>
              <a:t>Hay </a:t>
            </a:r>
            <a:r>
              <a:rPr lang="es-AR" sz="4000" dirty="0">
                <a:solidFill>
                  <a:schemeClr val="accent3"/>
                </a:solidFill>
                <a:latin typeface="-apple-system"/>
              </a:rPr>
              <a:t>varios modos de visualización del </a:t>
            </a:r>
            <a:endParaRPr lang="es-AR" sz="4000" dirty="0" smtClean="0">
              <a:solidFill>
                <a:schemeClr val="accent3"/>
              </a:solidFill>
              <a:latin typeface="-apple-system"/>
            </a:endParaRPr>
          </a:p>
          <a:p>
            <a:r>
              <a:rPr lang="es-AR" sz="4000" dirty="0" err="1" smtClean="0">
                <a:solidFill>
                  <a:schemeClr val="accent3"/>
                </a:solidFill>
                <a:latin typeface="-apple-system"/>
                <a:hlinkClick r:id="rId2"/>
              </a:rPr>
              <a:t>Display</a:t>
            </a:r>
            <a:r>
              <a:rPr lang="es-AR" sz="4000" dirty="0" smtClean="0">
                <a:solidFill>
                  <a:schemeClr val="accent3"/>
                </a:solidFill>
                <a:latin typeface="-apple-system"/>
                <a:hlinkClick r:id="rId2"/>
              </a:rPr>
              <a:t> </a:t>
            </a:r>
            <a:r>
              <a:rPr lang="es-AR" sz="4000" dirty="0">
                <a:solidFill>
                  <a:schemeClr val="accent3"/>
                </a:solidFill>
                <a:latin typeface="-apple-system"/>
                <a:hlinkClick r:id="rId2"/>
              </a:rPr>
              <a:t>LCD</a:t>
            </a:r>
            <a:r>
              <a:rPr lang="es-AR" sz="4000" dirty="0">
                <a:solidFill>
                  <a:schemeClr val="accent3"/>
                </a:solidFill>
                <a:latin typeface="-apple-system"/>
              </a:rPr>
              <a:t>. </a:t>
            </a:r>
            <a:endParaRPr lang="es-AR" sz="4000" dirty="0" smtClean="0">
              <a:solidFill>
                <a:schemeClr val="accent3"/>
              </a:solidFill>
              <a:latin typeface="-apple-system"/>
            </a:endParaRPr>
          </a:p>
          <a:p>
            <a:endParaRPr lang="es-AR" sz="4000" dirty="0" smtClean="0">
              <a:solidFill>
                <a:schemeClr val="accent3"/>
              </a:solidFill>
              <a:latin typeface="-apple-system"/>
            </a:endParaRPr>
          </a:p>
          <a:p>
            <a:r>
              <a:rPr lang="es-AR" sz="4000" dirty="0" smtClean="0">
                <a:solidFill>
                  <a:schemeClr val="accent3"/>
                </a:solidFill>
                <a:latin typeface="-apple-system"/>
              </a:rPr>
              <a:t>Estos </a:t>
            </a:r>
            <a:r>
              <a:rPr lang="es-AR" sz="4000" dirty="0">
                <a:solidFill>
                  <a:schemeClr val="accent3"/>
                </a:solidFill>
                <a:latin typeface="-apple-system"/>
              </a:rPr>
              <a:t>modos dependen de las diferentes maneras de utilizar la luz natural y artificial para lograr percibir la información que se presenta en el dispositivo</a:t>
            </a:r>
            <a:r>
              <a:rPr lang="es-AR" sz="4000" dirty="0" smtClean="0">
                <a:solidFill>
                  <a:schemeClr val="accent3"/>
                </a:solidFill>
                <a:latin typeface="-apple-system"/>
              </a:rPr>
              <a:t>.</a:t>
            </a:r>
          </a:p>
          <a:p>
            <a:endParaRPr lang="es-AR" dirty="0">
              <a:solidFill>
                <a:schemeClr val="accent3"/>
              </a:solidFill>
              <a:latin typeface="-apple-system"/>
            </a:endParaRPr>
          </a:p>
          <a:p>
            <a:endParaRPr lang="es-AR" dirty="0"/>
          </a:p>
          <a:p>
            <a:endParaRPr lang="es-AR" dirty="0"/>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dirty="0" smtClean="0">
              <a:solidFill>
                <a:srgbClr val="3A3A3A"/>
              </a:solidFill>
              <a:latin typeface="-apple-system"/>
            </a:endParaRPr>
          </a:p>
          <a:p>
            <a:endParaRPr lang="es-AR" b="0" i="0" dirty="0">
              <a:solidFill>
                <a:srgbClr val="3A3A3A"/>
              </a:solidFill>
              <a:effectLst/>
              <a:latin typeface="-apple-system"/>
            </a:endParaRPr>
          </a:p>
          <a:p>
            <a:endParaRPr lang="es-AR" b="0" i="0" dirty="0">
              <a:solidFill>
                <a:srgbClr val="3A3A3A"/>
              </a:solidFill>
              <a:effectLst/>
              <a:latin typeface="-apple-system"/>
            </a:endParaRPr>
          </a:p>
        </p:txBody>
      </p:sp>
    </p:spTree>
    <p:extLst>
      <p:ext uri="{BB962C8B-B14F-4D97-AF65-F5344CB8AC3E}">
        <p14:creationId xmlns:p14="http://schemas.microsoft.com/office/powerpoint/2010/main" val="2720468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03200" y="214489"/>
            <a:ext cx="11864622" cy="6463308"/>
          </a:xfrm>
          <a:prstGeom prst="rect">
            <a:avLst/>
          </a:prstGeom>
        </p:spPr>
        <p:txBody>
          <a:bodyPr wrap="square">
            <a:spAutoFit/>
          </a:bodyPr>
          <a:lstStyle/>
          <a:p>
            <a:pPr algn="ctr"/>
            <a:r>
              <a:rPr lang="es-AR" sz="2800" b="1" dirty="0">
                <a:solidFill>
                  <a:schemeClr val="accent3"/>
                </a:solidFill>
              </a:rPr>
              <a:t>Visualización del </a:t>
            </a:r>
            <a:r>
              <a:rPr lang="es-AR" sz="2800" b="1" dirty="0" err="1">
                <a:solidFill>
                  <a:schemeClr val="accent3"/>
                </a:solidFill>
              </a:rPr>
              <a:t>Display</a:t>
            </a:r>
            <a:r>
              <a:rPr lang="es-AR" sz="2800" b="1" dirty="0">
                <a:solidFill>
                  <a:schemeClr val="accent3"/>
                </a:solidFill>
              </a:rPr>
              <a:t> LCD en modo reflector</a:t>
            </a:r>
          </a:p>
          <a:p>
            <a:endParaRPr lang="es-AR" sz="2800" b="1" dirty="0">
              <a:solidFill>
                <a:schemeClr val="accent3"/>
              </a:solidFill>
            </a:endParaRPr>
          </a:p>
          <a:p>
            <a:r>
              <a:rPr lang="es-AR" sz="2800" b="1" dirty="0" smtClean="0">
                <a:solidFill>
                  <a:schemeClr val="accent3"/>
                </a:solidFill>
              </a:rPr>
              <a:t>En </a:t>
            </a:r>
            <a:r>
              <a:rPr lang="es-AR" sz="2800" b="1" dirty="0">
                <a:solidFill>
                  <a:schemeClr val="accent3"/>
                </a:solidFill>
              </a:rPr>
              <a:t>este modo el LCD utiliza un reflector de difusión </a:t>
            </a:r>
            <a:endParaRPr lang="es-AR" sz="2800" b="1" dirty="0" smtClean="0">
              <a:solidFill>
                <a:schemeClr val="accent3"/>
              </a:solidFill>
            </a:endParaRPr>
          </a:p>
          <a:p>
            <a:r>
              <a:rPr lang="es-AR" sz="2800" b="1" dirty="0" smtClean="0">
                <a:solidFill>
                  <a:schemeClr val="accent3"/>
                </a:solidFill>
              </a:rPr>
              <a:t>(</a:t>
            </a:r>
            <a:r>
              <a:rPr lang="es-AR" sz="2800" b="1" dirty="0">
                <a:solidFill>
                  <a:schemeClr val="accent3"/>
                </a:solidFill>
              </a:rPr>
              <a:t>una lámina reflectora), que refleja la luz ambiente a través del visualizador.</a:t>
            </a:r>
          </a:p>
          <a:p>
            <a:r>
              <a:rPr lang="es-AR" sz="2800" b="1" dirty="0">
                <a:solidFill>
                  <a:schemeClr val="accent3"/>
                </a:solidFill>
              </a:rPr>
              <a:t>Este modo de visualización es excelente para áreas donde siempre hay luz natural disponible y como no requiere de una fuente de energía se puede utilizar con </a:t>
            </a:r>
            <a:r>
              <a:rPr lang="es-AR" sz="2800" b="1" dirty="0">
                <a:solidFill>
                  <a:schemeClr val="accent3"/>
                </a:solidFill>
                <a:hlinkClick r:id="rId2" tooltip="Como funcionan las baterías"/>
              </a:rPr>
              <a:t>baterías</a:t>
            </a:r>
            <a:r>
              <a:rPr lang="es-AR" sz="2800" b="1" dirty="0">
                <a:solidFill>
                  <a:schemeClr val="accent3"/>
                </a:solidFill>
              </a:rPr>
              <a:t>. Este modo ofrece un alto contraste</a:t>
            </a:r>
            <a:r>
              <a:rPr lang="es-AR" sz="2800" b="1" dirty="0" smtClean="0">
                <a:solidFill>
                  <a:schemeClr val="accent3"/>
                </a:solidFill>
              </a:rPr>
              <a:t>.</a:t>
            </a:r>
          </a:p>
          <a:p>
            <a:endParaRPr lang="es-AR" dirty="0"/>
          </a:p>
          <a:p>
            <a:endParaRPr lang="es-AR" dirty="0" smtClean="0"/>
          </a:p>
          <a:p>
            <a:endParaRPr lang="es-AR" dirty="0"/>
          </a:p>
          <a:p>
            <a:endParaRPr lang="es-AR" dirty="0" smtClean="0"/>
          </a:p>
          <a:p>
            <a:endParaRPr lang="es-AR" dirty="0"/>
          </a:p>
          <a:p>
            <a:endParaRPr lang="es-AR" dirty="0" smtClean="0"/>
          </a:p>
          <a:p>
            <a:endParaRPr lang="es-AR" dirty="0"/>
          </a:p>
          <a:p>
            <a:endParaRPr lang="es-AR" dirty="0" smtClean="0"/>
          </a:p>
          <a:p>
            <a:endParaRPr lang="es-AR" dirty="0"/>
          </a:p>
        </p:txBody>
      </p:sp>
      <p:pic>
        <p:nvPicPr>
          <p:cNvPr id="2050" name="Picture 2" descr="Display LCD (Display de Cristal Líquido), modo reflector - Modos de visualización del Display LC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3132" y="3950110"/>
            <a:ext cx="3456869" cy="2727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423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isplay LCD (Display de Cristal Líquido), modo transmisor - Modos de visualización del Display LC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4934" y="2957688"/>
            <a:ext cx="3175351" cy="2867378"/>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282221" y="203200"/>
            <a:ext cx="11672711" cy="4062651"/>
          </a:xfrm>
          <a:prstGeom prst="rect">
            <a:avLst/>
          </a:prstGeom>
        </p:spPr>
        <p:txBody>
          <a:bodyPr wrap="square">
            <a:spAutoFit/>
          </a:bodyPr>
          <a:lstStyle/>
          <a:p>
            <a:pPr algn="ctr"/>
            <a:r>
              <a:rPr lang="es-AR" sz="2800" b="1" dirty="0">
                <a:solidFill>
                  <a:schemeClr val="accent3"/>
                </a:solidFill>
              </a:rPr>
              <a:t>Visualización del </a:t>
            </a:r>
            <a:r>
              <a:rPr lang="es-AR" sz="2800" b="1" dirty="0" err="1">
                <a:solidFill>
                  <a:schemeClr val="accent3"/>
                </a:solidFill>
              </a:rPr>
              <a:t>Display</a:t>
            </a:r>
            <a:r>
              <a:rPr lang="es-AR" sz="2800" b="1" dirty="0">
                <a:solidFill>
                  <a:schemeClr val="accent3"/>
                </a:solidFill>
              </a:rPr>
              <a:t> LCD en modo transmisor</a:t>
            </a:r>
          </a:p>
          <a:p>
            <a:endParaRPr lang="es-AR" sz="2800" b="1" dirty="0">
              <a:solidFill>
                <a:schemeClr val="accent3"/>
              </a:solidFill>
            </a:endParaRPr>
          </a:p>
          <a:p>
            <a:r>
              <a:rPr lang="es-AR" sz="2800" b="1" dirty="0">
                <a:solidFill>
                  <a:schemeClr val="accent3"/>
                </a:solidFill>
              </a:rPr>
              <a:t>En este modo el visualizador LCD es iluminado desde atrás en forma artificial. Se utiliza mucho para visualizaciones negativas (segmentos claros sobre fondo oscuro). Ver el gráfico siguiente</a:t>
            </a:r>
            <a:r>
              <a:rPr lang="es-AR" sz="2800" b="1" dirty="0" smtClean="0">
                <a:solidFill>
                  <a:schemeClr val="accent3"/>
                </a:solidFill>
              </a:rPr>
              <a:t>.</a:t>
            </a:r>
          </a:p>
          <a:p>
            <a:endParaRPr lang="es-AR" sz="2800" b="1" dirty="0">
              <a:solidFill>
                <a:schemeClr val="accent3"/>
              </a:solidFill>
            </a:endParaRPr>
          </a:p>
          <a:p>
            <a:endParaRPr lang="es-AR" b="1" dirty="0" smtClean="0">
              <a:solidFill>
                <a:schemeClr val="accent3"/>
              </a:solidFill>
            </a:endParaRPr>
          </a:p>
          <a:p>
            <a:endParaRPr lang="es-AR" b="1" dirty="0">
              <a:solidFill>
                <a:schemeClr val="accent3"/>
              </a:solidFill>
            </a:endParaRPr>
          </a:p>
          <a:p>
            <a:endParaRPr lang="es-AR" b="1" dirty="0" smtClean="0">
              <a:solidFill>
                <a:schemeClr val="accent3"/>
              </a:solidFill>
            </a:endParaRPr>
          </a:p>
          <a:p>
            <a:endParaRPr lang="es-AR" b="1" dirty="0">
              <a:solidFill>
                <a:schemeClr val="accent3"/>
              </a:solidFill>
            </a:endParaRPr>
          </a:p>
          <a:p>
            <a:endParaRPr lang="es-AR" b="1" dirty="0">
              <a:solidFill>
                <a:schemeClr val="accent3"/>
              </a:solidFill>
            </a:endParaRPr>
          </a:p>
        </p:txBody>
      </p:sp>
    </p:spTree>
    <p:extLst>
      <p:ext uri="{BB962C8B-B14F-4D97-AF65-F5344CB8AC3E}">
        <p14:creationId xmlns:p14="http://schemas.microsoft.com/office/powerpoint/2010/main" val="2298662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isplay LCD (Display de Cristal Líquido), modo transflector - Modos de visualización del Display LC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4622" y="3420533"/>
            <a:ext cx="3465689" cy="315842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180621" y="169333"/>
            <a:ext cx="11819467" cy="2677656"/>
          </a:xfrm>
          <a:prstGeom prst="rect">
            <a:avLst/>
          </a:prstGeom>
        </p:spPr>
        <p:txBody>
          <a:bodyPr wrap="square">
            <a:spAutoFit/>
          </a:bodyPr>
          <a:lstStyle/>
          <a:p>
            <a:pPr algn="ctr"/>
            <a:r>
              <a:rPr lang="es-AR" sz="2800" b="1" dirty="0">
                <a:solidFill>
                  <a:schemeClr val="accent3"/>
                </a:solidFill>
                <a:latin typeface="-apple-system"/>
              </a:rPr>
              <a:t>Visualización del </a:t>
            </a:r>
            <a:r>
              <a:rPr lang="es-AR" sz="2800" b="1" dirty="0" err="1">
                <a:solidFill>
                  <a:schemeClr val="accent3"/>
                </a:solidFill>
                <a:latin typeface="-apple-system"/>
              </a:rPr>
              <a:t>Display</a:t>
            </a:r>
            <a:r>
              <a:rPr lang="es-AR" sz="2800" b="1" dirty="0">
                <a:solidFill>
                  <a:schemeClr val="accent3"/>
                </a:solidFill>
                <a:latin typeface="-apple-system"/>
              </a:rPr>
              <a:t> LCD en modo </a:t>
            </a:r>
            <a:r>
              <a:rPr lang="es-AR" sz="2800" b="1" dirty="0" err="1">
                <a:solidFill>
                  <a:schemeClr val="accent3"/>
                </a:solidFill>
                <a:latin typeface="-apple-system"/>
              </a:rPr>
              <a:t>transflector</a:t>
            </a:r>
            <a:endParaRPr lang="es-AR" sz="2800" b="1" dirty="0">
              <a:solidFill>
                <a:schemeClr val="accent3"/>
              </a:solidFill>
              <a:latin typeface="-apple-system"/>
            </a:endParaRPr>
          </a:p>
          <a:p>
            <a:endParaRPr lang="es-AR" sz="2800" b="1" dirty="0" smtClean="0">
              <a:solidFill>
                <a:schemeClr val="accent3"/>
              </a:solidFill>
              <a:latin typeface="-apple-system"/>
            </a:endParaRPr>
          </a:p>
          <a:p>
            <a:r>
              <a:rPr lang="es-AR" sz="2800" b="1" dirty="0" smtClean="0">
                <a:solidFill>
                  <a:schemeClr val="accent3"/>
                </a:solidFill>
                <a:latin typeface="-apple-system"/>
              </a:rPr>
              <a:t>Este </a:t>
            </a:r>
            <a:r>
              <a:rPr lang="es-AR" sz="2800" b="1" dirty="0">
                <a:solidFill>
                  <a:schemeClr val="accent3"/>
                </a:solidFill>
                <a:latin typeface="-apple-system"/>
              </a:rPr>
              <a:t>modo es un híbrido de los dos modos antes mencionados y se utiliza para desplegar la información bajo cualquier condición de iluminación. En este modo el </a:t>
            </a:r>
            <a:r>
              <a:rPr lang="es-AR" sz="2800" b="1" dirty="0" err="1">
                <a:solidFill>
                  <a:schemeClr val="accent3"/>
                </a:solidFill>
                <a:latin typeface="-apple-system"/>
              </a:rPr>
              <a:t>display</a:t>
            </a:r>
            <a:r>
              <a:rPr lang="es-AR" sz="2800" b="1" dirty="0">
                <a:solidFill>
                  <a:schemeClr val="accent3"/>
                </a:solidFill>
                <a:latin typeface="-apple-system"/>
              </a:rPr>
              <a:t> LCD refleja tanto la luz ambiente como la luz artificial de fondo difusa para uso nocturno.</a:t>
            </a:r>
            <a:endParaRPr lang="es-AR" sz="2800" b="1" i="0" dirty="0">
              <a:solidFill>
                <a:schemeClr val="accent3"/>
              </a:solidFill>
              <a:effectLst/>
              <a:latin typeface="-apple-system"/>
            </a:endParaRPr>
          </a:p>
        </p:txBody>
      </p:sp>
    </p:spTree>
    <p:extLst>
      <p:ext uri="{BB962C8B-B14F-4D97-AF65-F5344CB8AC3E}">
        <p14:creationId xmlns:p14="http://schemas.microsoft.com/office/powerpoint/2010/main" val="21909567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266</TotalTime>
  <Words>149</Words>
  <Application>Microsoft Office PowerPoint</Application>
  <PresentationFormat>Panorámica</PresentationFormat>
  <Paragraphs>79</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-apple-system</vt:lpstr>
      <vt:lpstr>Arial</vt:lpstr>
      <vt:lpstr>Century Gothic</vt:lpstr>
      <vt:lpstr>Wingdings 3</vt:lpstr>
      <vt:lpstr>Ion</vt:lpstr>
      <vt:lpstr>   CRISTALES LÍQUIDOS  (LCD)</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TEMÁTICA N° 6: OTOELECTRÓNICA</dc:title>
  <dc:creator>Carlos</dc:creator>
  <cp:lastModifiedBy>Carlos</cp:lastModifiedBy>
  <cp:revision>92</cp:revision>
  <dcterms:created xsi:type="dcterms:W3CDTF">2020-08-24T22:11:36Z</dcterms:created>
  <dcterms:modified xsi:type="dcterms:W3CDTF">2020-09-01T13:23:33Z</dcterms:modified>
</cp:coreProperties>
</file>