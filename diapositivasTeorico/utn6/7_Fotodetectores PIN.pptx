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9" r:id="rId2"/>
    <p:sldId id="278" r:id="rId3"/>
    <p:sldId id="261" r:id="rId4"/>
    <p:sldId id="266" r:id="rId5"/>
    <p:sldId id="267" r:id="rId6"/>
    <p:sldId id="256" r:id="rId7"/>
    <p:sldId id="265" r:id="rId8"/>
    <p:sldId id="259" r:id="rId9"/>
    <p:sldId id="258" r:id="rId10"/>
    <p:sldId id="257" r:id="rId11"/>
    <p:sldId id="271" r:id="rId12"/>
    <p:sldId id="269" r:id="rId13"/>
    <p:sldId id="268" r:id="rId14"/>
    <p:sldId id="274" r:id="rId15"/>
    <p:sldId id="272" r:id="rId16"/>
    <p:sldId id="262" r:id="rId17"/>
    <p:sldId id="263" r:id="rId18"/>
    <p:sldId id="260" r:id="rId19"/>
    <p:sldId id="264" r:id="rId20"/>
    <p:sldId id="270" r:id="rId21"/>
    <p:sldId id="276" r:id="rId2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os" initials="C" lastIdx="5" clrIdx="0">
    <p:extLst>
      <p:ext uri="{19B8F6BF-5375-455C-9EA6-DF929625EA0E}">
        <p15:presenceInfo xmlns:p15="http://schemas.microsoft.com/office/powerpoint/2012/main" userId="Carl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4-22T10:26:35.538" idx="1">
    <p:pos x="5752" y="706"/>
    <p:text>Esto hace que los fotoportadores de corriente se incrementen un poco más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4-22T10:34:30.772" idx="4">
    <p:pos x="10" y="10"/>
    <p:text>Slab: Plancha , Placa , Bloque , Oblea Semiconductora</p:text>
    <p:extLst>
      <p:ext uri="{C676402C-5697-4E1C-873F-D02D1690AC5C}">
        <p15:threadingInfo xmlns:p15="http://schemas.microsoft.com/office/powerpoint/2012/main" timeZoneBias="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6981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410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970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915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3302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426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0486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1785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88231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2185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239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9743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059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65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1788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86582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9AD6-5C0C-4586-97D9-43B45081590C}" type="datetimeFigureOut">
              <a:rPr lang="es-AR" smtClean="0"/>
              <a:t>22/4/2020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FCFFC5-89C3-4C5C-A605-67A161BF07D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704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890868"/>
          </a:xfrm>
        </p:spPr>
        <p:txBody>
          <a:bodyPr/>
          <a:lstStyle/>
          <a:p>
            <a:pPr algn="ctr"/>
            <a:r>
              <a:rPr lang="es-AR" dirty="0"/>
              <a:t/>
            </a:r>
            <a:br>
              <a:rPr lang="es-AR" dirty="0"/>
            </a:br>
            <a:r>
              <a:rPr lang="es-AR" dirty="0"/>
              <a:t/>
            </a:r>
            <a:br>
              <a:rPr lang="es-AR" dirty="0"/>
            </a:br>
            <a:r>
              <a:rPr lang="es-AR" sz="4400" dirty="0" smtClean="0"/>
              <a:t>FOTODETECTOR P.I.N.</a:t>
            </a:r>
            <a:br>
              <a:rPr lang="es-AR" sz="4400" dirty="0" smtClean="0"/>
            </a:br>
            <a:r>
              <a:rPr lang="es-AR" sz="4400" dirty="0" smtClean="0"/>
              <a:t>FOTODIODO P.I.N.</a:t>
            </a:r>
            <a:br>
              <a:rPr lang="es-AR" sz="4400" dirty="0" smtClean="0"/>
            </a:br>
            <a:r>
              <a:rPr lang="es-AR" sz="4400" dirty="0" smtClean="0"/>
              <a:t>RECEPTOR ÓPTICO</a:t>
            </a:r>
            <a:br>
              <a:rPr lang="es-AR" sz="4400" dirty="0" smtClean="0"/>
            </a:br>
            <a:r>
              <a:rPr lang="es-AR" sz="4400" dirty="0" smtClean="0"/>
              <a:t>CONVERSOR OPTICO - ELECTRICO</a:t>
            </a:r>
            <a:endParaRPr lang="es-AR" sz="4400" dirty="0"/>
          </a:p>
        </p:txBody>
      </p:sp>
    </p:spTree>
    <p:extLst>
      <p:ext uri="{BB962C8B-B14F-4D97-AF65-F5344CB8AC3E}">
        <p14:creationId xmlns:p14="http://schemas.microsoft.com/office/powerpoint/2010/main" val="2141326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180305"/>
            <a:ext cx="8596668" cy="734096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429555"/>
            <a:ext cx="8596668" cy="46118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u="sng" dirty="0" err="1"/>
              <a:t>Fotodetectores</a:t>
            </a:r>
            <a:r>
              <a:rPr lang="es-MX" b="1" u="sng" dirty="0"/>
              <a:t> </a:t>
            </a:r>
            <a:r>
              <a:rPr lang="es-MX" b="1" u="sng" dirty="0" smtClean="0"/>
              <a:t>PIN</a:t>
            </a:r>
            <a:endParaRPr lang="es-AR" dirty="0"/>
          </a:p>
          <a:p>
            <a:pPr marL="0" indent="0">
              <a:buNone/>
            </a:pPr>
            <a:r>
              <a:rPr lang="es-ES" dirty="0"/>
              <a:t>Genera un solo par electrón-hueco por fotón absorbido. Son los más comunes y están formados por una capa de material semiconductor ligeramente contaminado (región intrínseca), la cual se coloca entre dos capas de material semiconductor, una tipo N y otra tipo P. </a:t>
            </a:r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Cuando </a:t>
            </a:r>
            <a:r>
              <a:rPr lang="es-ES" dirty="0"/>
              <a:t>se le aplica una polarización inversa al </a:t>
            </a:r>
            <a:r>
              <a:rPr lang="es-ES" dirty="0" err="1"/>
              <a:t>fotodetector</a:t>
            </a:r>
            <a:r>
              <a:rPr lang="es-ES" dirty="0"/>
              <a:t>, se crea una zona desértica (libre de portadores) en la región intrínseca en la cual se forma un campo eléctrico. </a:t>
            </a:r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Donde </a:t>
            </a:r>
            <a:r>
              <a:rPr lang="es-ES" dirty="0"/>
              <a:t>un fotón en la zona desértica con mayor energía o igual a la del material semiconductor, puede perder su energía y excitar a un electrón que se encuentra en la banda de valencia para que pase a la banda de conducción. </a:t>
            </a:r>
            <a:endParaRPr lang="es-AR" dirty="0"/>
          </a:p>
          <a:p>
            <a:pPr marL="0" indent="0">
              <a:buNone/>
            </a:pPr>
            <a:r>
              <a:rPr lang="es-ES" dirty="0"/>
              <a:t>Este proceso genera pares electrón – hueco que se les llama </a:t>
            </a:r>
            <a:r>
              <a:rPr lang="es-ES" dirty="0" err="1" smtClean="0"/>
              <a:t>fotoportadores</a:t>
            </a:r>
            <a:r>
              <a:rPr lang="es-ES" dirty="0" smtClean="0"/>
              <a:t>.</a:t>
            </a:r>
          </a:p>
          <a:p>
            <a:pPr marL="0" indent="0">
              <a:buNone/>
            </a:pPr>
            <a:r>
              <a:rPr lang="es-AR" dirty="0"/>
              <a:t>Como no hay mecanismo de ganancia, la máxima eficiencia es la unidad y el producto ganancia por ancho de banda coincide con esta última.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0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95455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06062"/>
            <a:ext cx="8596668" cy="721217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7170" name="Picture 2" descr="Análisis Interactivo de Fotodetectores en Enlaces Ópticos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3" y="1519706"/>
            <a:ext cx="8044953" cy="405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97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70456"/>
            <a:ext cx="8596668" cy="772733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8194" name="Picture 2" descr="Emisores y receptores ópticos | Textos Científico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255" y="1957589"/>
            <a:ext cx="6181858" cy="324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22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425003"/>
            <a:ext cx="8596668" cy="759853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9218" name="Picture 2" descr="800 1700nm 2,5 GHZ indium gallium arsénico PIN fotodetector diodo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256" y="1596980"/>
            <a:ext cx="5576552" cy="444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32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07067" y="103031"/>
            <a:ext cx="7766936" cy="744169"/>
          </a:xfrm>
        </p:spPr>
        <p:txBody>
          <a:bodyPr/>
          <a:lstStyle/>
          <a:p>
            <a:pPr algn="ctr"/>
            <a:r>
              <a:rPr lang="es-AR" sz="4400" u="sng" dirty="0" err="1" smtClean="0"/>
              <a:t>Fotodetectores</a:t>
            </a:r>
            <a:endParaRPr lang="es-AR" sz="4400" u="sng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7583" y="1223493"/>
            <a:ext cx="8166420" cy="4378817"/>
          </a:xfrm>
        </p:spPr>
        <p:txBody>
          <a:bodyPr/>
          <a:lstStyle/>
          <a:p>
            <a:pPr algn="l"/>
            <a:endParaRPr lang="es-AR" dirty="0"/>
          </a:p>
        </p:txBody>
      </p:sp>
      <p:pic>
        <p:nvPicPr>
          <p:cNvPr id="1026" name="Picture 2" descr="EL DIOD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72" y="1053262"/>
            <a:ext cx="8384147" cy="4755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14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31820"/>
            <a:ext cx="8596668" cy="746974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6146" name="Picture 2" descr="COMUNICACIONES ÓPTICAS - ppt descarga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58" y="1120461"/>
            <a:ext cx="8190963" cy="555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echa arriba 3"/>
          <p:cNvSpPr/>
          <p:nvPr/>
        </p:nvSpPr>
        <p:spPr>
          <a:xfrm>
            <a:off x="6540500" y="4800600"/>
            <a:ext cx="419100" cy="3937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704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21972"/>
            <a:ext cx="8596668" cy="772732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1026" name="Picture 2" descr="DETECTORES Y RECEPTOR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455312"/>
            <a:ext cx="7066877" cy="463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07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47730"/>
            <a:ext cx="8596668" cy="708338"/>
          </a:xfrm>
        </p:spPr>
        <p:txBody>
          <a:bodyPr>
            <a:noAutofit/>
          </a:bodyPr>
          <a:lstStyle/>
          <a:p>
            <a:pPr algn="ctr"/>
            <a:r>
              <a:rPr lang="es-AR" sz="4400" u="sng" dirty="0" err="1"/>
              <a:t>Fotodetectores</a:t>
            </a:r>
            <a:endParaRPr lang="es-AR" sz="4400" dirty="0"/>
          </a:p>
        </p:txBody>
      </p:sp>
      <p:pic>
        <p:nvPicPr>
          <p:cNvPr id="3074" name="Picture 2" descr="Fotodetectores semiconductor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538" y="1579674"/>
            <a:ext cx="7366717" cy="431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10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154547"/>
            <a:ext cx="8596668" cy="785612"/>
          </a:xfrm>
        </p:spPr>
        <p:txBody>
          <a:bodyPr>
            <a:normAutofit/>
          </a:bodyPr>
          <a:lstStyle/>
          <a:p>
            <a:pPr algn="ctr"/>
            <a:r>
              <a:rPr lang="es-AR" sz="4400" u="sng" dirty="0" err="1"/>
              <a:t>Fotodetectores</a:t>
            </a:r>
            <a:endParaRPr lang="es-AR" sz="4400" dirty="0"/>
          </a:p>
        </p:txBody>
      </p:sp>
      <p:pic>
        <p:nvPicPr>
          <p:cNvPr id="2050" name="Picture 2" descr="Receptores ópticos (página 2) - Monografias.c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220" y="1326523"/>
            <a:ext cx="7598535" cy="471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6341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60608"/>
            <a:ext cx="8596668" cy="798491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13314" name="Picture 2" descr="Comunicaciones por Fibra Óptica - PDF Descargar libr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039" y="1622739"/>
            <a:ext cx="7315200" cy="4121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64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09094"/>
            <a:ext cx="8596668" cy="772732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11266" name="Picture 2" descr="6. Responsividad ideal y real de un fotodetector de Si. | Download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406" y="1584102"/>
            <a:ext cx="6400800" cy="402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91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141669"/>
            <a:ext cx="8596668" cy="837126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10244" name="Picture 4" descr="Análisis Interactivo de Fotodetectores en Enlaces Ópticos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407" y="1712890"/>
            <a:ext cx="6194738" cy="4005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30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33829"/>
            <a:ext cx="8596668" cy="899885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16386" name="Picture 2" descr="Fotodetectores semiconductor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86" y="1393371"/>
            <a:ext cx="7924799" cy="486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0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141669"/>
            <a:ext cx="8596668" cy="708338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14338" name="Picture 2" descr="RECEPTORES DE FIBRA OPTICA - ppt descarga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92" y="998919"/>
            <a:ext cx="7405352" cy="507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06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96215"/>
            <a:ext cx="8596668" cy="734096"/>
          </a:xfrm>
        </p:spPr>
        <p:txBody>
          <a:bodyPr>
            <a:normAutofit/>
          </a:bodyPr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3074" name="Picture 2" descr="Receptores ópticos (página 2) - Monografias.c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615" y="1146175"/>
            <a:ext cx="7598534" cy="506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90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96214"/>
            <a:ext cx="8596668" cy="721217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4098" name="Picture 2" descr="Receptores ópticos (página 2) - Monografias.c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130" y="1287463"/>
            <a:ext cx="7598535" cy="475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29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21972"/>
            <a:ext cx="8596668" cy="721217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2050" name="Picture 2" descr="PPT - RECEPTORES DE FIBRA OPTICA PowerPoint Presentation, free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372" y="1223963"/>
            <a:ext cx="7637172" cy="504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05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180304"/>
            <a:ext cx="8596668" cy="734096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5122" name="Picture 2" descr="Receptores ópticos (página 2) - Monografias.c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53" y="1108074"/>
            <a:ext cx="7894748" cy="531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72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21972"/>
            <a:ext cx="8596668" cy="824248"/>
          </a:xfrm>
        </p:spPr>
        <p:txBody>
          <a:bodyPr/>
          <a:lstStyle/>
          <a:p>
            <a:pPr algn="ctr"/>
            <a:r>
              <a:rPr lang="es-AR" u="sng" dirty="0" err="1"/>
              <a:t>Fotodetectores</a:t>
            </a:r>
            <a:endParaRPr lang="es-AR" dirty="0"/>
          </a:p>
        </p:txBody>
      </p:sp>
      <p:pic>
        <p:nvPicPr>
          <p:cNvPr id="12290" name="Picture 2" descr="enlace optoelectrónico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254" y="2421228"/>
            <a:ext cx="6375042" cy="3503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73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261258"/>
            <a:ext cx="8596668" cy="769256"/>
          </a:xfrm>
        </p:spPr>
        <p:txBody>
          <a:bodyPr/>
          <a:lstStyle/>
          <a:p>
            <a:pPr algn="ctr"/>
            <a:r>
              <a:rPr lang="es-AR" dirty="0"/>
              <a:t>Fotodiodo PIN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3" y="1132114"/>
            <a:ext cx="8800495" cy="528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0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271</TotalTime>
  <Words>186</Words>
  <Application>Microsoft Office PowerPoint</Application>
  <PresentationFormat>Panorámica</PresentationFormat>
  <Paragraphs>27</Paragraphs>
  <Slides>21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Wingdings 3</vt:lpstr>
      <vt:lpstr>Faceta</vt:lpstr>
      <vt:lpstr>  FOTODETECTOR P.I.N. FOTODIODO P.I.N. RECEPTOR ÓPTICO CONVERSOR OPTICO - ELECTRICO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Fotodetectores</vt:lpstr>
      <vt:lpstr>Fotodiodo PIN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Fotodetectores</dc:title>
  <dc:creator>Carlos</dc:creator>
  <cp:lastModifiedBy>Carlos</cp:lastModifiedBy>
  <cp:revision>81</cp:revision>
  <dcterms:created xsi:type="dcterms:W3CDTF">2020-04-17T12:43:00Z</dcterms:created>
  <dcterms:modified xsi:type="dcterms:W3CDTF">2020-04-22T20:47:24Z</dcterms:modified>
</cp:coreProperties>
</file>