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EF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327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978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890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258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181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45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707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491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08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356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18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1530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9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6609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3746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372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020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9199AB-3286-4BEF-8864-68976EA0ED19}" type="datetimeFigureOut">
              <a:rPr lang="es-AR" smtClean="0"/>
              <a:t>28/10/2020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20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2288" y="225779"/>
            <a:ext cx="11681356" cy="6632222"/>
          </a:xfrm>
        </p:spPr>
        <p:txBody>
          <a:bodyPr/>
          <a:lstStyle/>
          <a:p>
            <a:pPr algn="ctr"/>
            <a:r>
              <a:rPr lang="es-AR" dirty="0" smtClean="0"/>
              <a:t/>
            </a:r>
            <a:br>
              <a:rPr lang="es-AR" dirty="0" smtClean="0"/>
            </a:br>
            <a:r>
              <a:rPr lang="es-AR" dirty="0"/>
              <a:t/>
            </a:r>
            <a:br>
              <a:rPr lang="es-AR" dirty="0"/>
            </a:br>
            <a:r>
              <a:rPr lang="es-AR" dirty="0" smtClean="0"/>
              <a:t/>
            </a:r>
            <a:br>
              <a:rPr lang="es-AR" dirty="0" smtClean="0"/>
            </a:br>
            <a:r>
              <a:rPr lang="es-AR" sz="7200" dirty="0" smtClean="0"/>
              <a:t>CRISTALES LÍQUIDOS </a:t>
            </a:r>
            <a:br>
              <a:rPr lang="es-AR" sz="7200" dirty="0" smtClean="0"/>
            </a:br>
            <a:r>
              <a:rPr lang="es-AR" sz="7200" dirty="0" smtClean="0"/>
              <a:t>(LCD)</a:t>
            </a:r>
            <a:endParaRPr lang="es-AR" sz="7200" dirty="0"/>
          </a:p>
        </p:txBody>
      </p:sp>
    </p:spTree>
    <p:extLst>
      <p:ext uri="{BB962C8B-B14F-4D97-AF65-F5344CB8AC3E}">
        <p14:creationId xmlns:p14="http://schemas.microsoft.com/office/powerpoint/2010/main" val="342723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16089" y="293511"/>
            <a:ext cx="11638844" cy="9264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s-AR" sz="2800" b="1" dirty="0" smtClean="0">
              <a:solidFill>
                <a:srgbClr val="FFFF00"/>
              </a:solidFill>
              <a:latin typeface="+mj-lt"/>
            </a:endParaRPr>
          </a:p>
          <a:p>
            <a:pPr algn="ctr"/>
            <a:r>
              <a:rPr lang="es-AR" sz="2800" b="1" dirty="0" smtClean="0">
                <a:solidFill>
                  <a:srgbClr val="FFFF00"/>
                </a:solidFill>
                <a:latin typeface="+mj-lt"/>
              </a:rPr>
              <a:t>Propiedades </a:t>
            </a:r>
            <a:r>
              <a:rPr lang="es-AR" sz="2800" b="1" dirty="0">
                <a:solidFill>
                  <a:srgbClr val="FFFF00"/>
                </a:solidFill>
                <a:latin typeface="+mj-lt"/>
              </a:rPr>
              <a:t>de los cristales líquidos</a:t>
            </a:r>
          </a:p>
          <a:p>
            <a:endParaRPr lang="es-AR" sz="2800" b="1" dirty="0" smtClean="0">
              <a:solidFill>
                <a:srgbClr val="FFFF00"/>
              </a:solidFill>
              <a:latin typeface="+mj-lt"/>
            </a:endParaRPr>
          </a:p>
          <a:p>
            <a:endParaRPr lang="es-AR" sz="2800" b="1" dirty="0">
              <a:solidFill>
                <a:srgbClr val="FFFF00"/>
              </a:solidFill>
              <a:latin typeface="+mj-lt"/>
            </a:endParaRPr>
          </a:p>
          <a:p>
            <a:r>
              <a:rPr lang="es-AR" sz="2800" b="1" dirty="0" smtClean="0">
                <a:solidFill>
                  <a:srgbClr val="FFFF00"/>
                </a:solidFill>
                <a:latin typeface="+mj-lt"/>
              </a:rPr>
              <a:t>Entre </a:t>
            </a:r>
            <a:r>
              <a:rPr lang="es-AR" sz="2800" b="1" dirty="0">
                <a:solidFill>
                  <a:srgbClr val="FFFF00"/>
                </a:solidFill>
                <a:latin typeface="+mj-lt"/>
              </a:rPr>
              <a:t>las numerosas propiedades de los cristales líquidos, existen dos que son de gran </a:t>
            </a:r>
            <a:r>
              <a:rPr lang="es-AR" sz="2800" b="1" dirty="0" smtClean="0">
                <a:solidFill>
                  <a:srgbClr val="FFFF00"/>
                </a:solidFill>
                <a:latin typeface="+mj-lt"/>
              </a:rPr>
              <a:t>importancia para </a:t>
            </a:r>
            <a:r>
              <a:rPr lang="es-AR" sz="2800" b="1" dirty="0">
                <a:solidFill>
                  <a:srgbClr val="FFFF00"/>
                </a:solidFill>
                <a:latin typeface="+mj-lt"/>
              </a:rPr>
              <a:t>varias de sus aplicaciones y que a continuación serán desarrolladas: </a:t>
            </a:r>
            <a:endParaRPr lang="es-AR" sz="2800" b="1" dirty="0" smtClean="0">
              <a:solidFill>
                <a:srgbClr val="FFFF00"/>
              </a:solidFill>
              <a:latin typeface="+mj-lt"/>
            </a:endParaRPr>
          </a:p>
          <a:p>
            <a:endParaRPr lang="es-AR" sz="2800" b="1" dirty="0" smtClean="0">
              <a:solidFill>
                <a:srgbClr val="FFFF00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800" b="1" dirty="0" smtClean="0">
                <a:solidFill>
                  <a:srgbClr val="FFFF00"/>
                </a:solidFill>
                <a:latin typeface="+mj-lt"/>
              </a:rPr>
              <a:t>Actividad óptica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AR" sz="2800" b="1" dirty="0">
              <a:solidFill>
                <a:srgbClr val="FFFF00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800" b="1" dirty="0" smtClean="0">
                <a:solidFill>
                  <a:srgbClr val="FFFF00"/>
                </a:solidFill>
                <a:latin typeface="+mj-lt"/>
              </a:rPr>
              <a:t>Polaridad </a:t>
            </a:r>
            <a:r>
              <a:rPr lang="es-AR" sz="2800" b="1" dirty="0">
                <a:solidFill>
                  <a:srgbClr val="FFFF00"/>
                </a:solidFill>
                <a:latin typeface="+mj-lt"/>
              </a:rPr>
              <a:t>de sus moléculas</a:t>
            </a:r>
            <a:r>
              <a:rPr lang="es-AR" sz="2800" b="1" dirty="0" smtClean="0">
                <a:solidFill>
                  <a:srgbClr val="FFFF00"/>
                </a:solidFill>
                <a:latin typeface="+mj-lt"/>
              </a:rPr>
              <a:t>.</a:t>
            </a:r>
          </a:p>
          <a:p>
            <a:endParaRPr lang="es-AR" dirty="0">
              <a:solidFill>
                <a:srgbClr val="231F20"/>
              </a:solidFill>
              <a:latin typeface="Formata-LightCondensed"/>
            </a:endParaRPr>
          </a:p>
          <a:p>
            <a:endParaRPr lang="es-AR" dirty="0" smtClean="0">
              <a:solidFill>
                <a:srgbClr val="231F20"/>
              </a:solidFill>
              <a:latin typeface="Formata-LightCondensed"/>
            </a:endParaRPr>
          </a:p>
          <a:p>
            <a:endParaRPr lang="es-AR" dirty="0">
              <a:solidFill>
                <a:srgbClr val="231F20"/>
              </a:solidFill>
              <a:latin typeface="Formata-LightCondensed"/>
            </a:endParaRPr>
          </a:p>
          <a:p>
            <a:endParaRPr lang="es-AR" dirty="0" smtClean="0">
              <a:solidFill>
                <a:srgbClr val="231F20"/>
              </a:solidFill>
              <a:latin typeface="Formata-LightCondensed"/>
            </a:endParaRPr>
          </a:p>
          <a:p>
            <a:endParaRPr lang="es-AR" dirty="0">
              <a:solidFill>
                <a:srgbClr val="231F20"/>
              </a:solidFill>
              <a:latin typeface="Formata-LightCondensed"/>
            </a:endParaRPr>
          </a:p>
          <a:p>
            <a:endParaRPr lang="es-AR" dirty="0" smtClean="0">
              <a:solidFill>
                <a:srgbClr val="231F20"/>
              </a:solidFill>
              <a:latin typeface="Formata-LightCondensed"/>
            </a:endParaRPr>
          </a:p>
          <a:p>
            <a:endParaRPr lang="es-AR" dirty="0">
              <a:solidFill>
                <a:srgbClr val="231F20"/>
              </a:solidFill>
              <a:latin typeface="Formata-LightCondensed"/>
            </a:endParaRPr>
          </a:p>
          <a:p>
            <a:endParaRPr lang="es-AR" dirty="0" smtClean="0">
              <a:solidFill>
                <a:srgbClr val="231F20"/>
              </a:solidFill>
              <a:latin typeface="Formata-LightCondensed"/>
            </a:endParaRPr>
          </a:p>
          <a:p>
            <a:endParaRPr lang="es-AR" dirty="0">
              <a:solidFill>
                <a:srgbClr val="231F20"/>
              </a:solidFill>
              <a:latin typeface="Formata-LightCondensed"/>
            </a:endParaRPr>
          </a:p>
          <a:p>
            <a:endParaRPr lang="es-AR" dirty="0" smtClean="0">
              <a:solidFill>
                <a:srgbClr val="231F20"/>
              </a:solidFill>
              <a:latin typeface="Formata-LightCondensed"/>
            </a:endParaRPr>
          </a:p>
          <a:p>
            <a:endParaRPr lang="es-AR" dirty="0">
              <a:solidFill>
                <a:srgbClr val="231F20"/>
              </a:solidFill>
              <a:latin typeface="Formata-LightCondensed"/>
            </a:endParaRPr>
          </a:p>
          <a:p>
            <a:endParaRPr lang="es-AR" dirty="0" smtClean="0">
              <a:solidFill>
                <a:srgbClr val="231F20"/>
              </a:solidFill>
              <a:latin typeface="Formata-LightCondensed"/>
            </a:endParaRPr>
          </a:p>
          <a:p>
            <a:endParaRPr lang="es-AR" dirty="0">
              <a:solidFill>
                <a:srgbClr val="231F20"/>
              </a:solidFill>
              <a:latin typeface="Formata-LightCondensed"/>
            </a:endParaRPr>
          </a:p>
          <a:p>
            <a:endParaRPr lang="es-AR" dirty="0" smtClean="0">
              <a:solidFill>
                <a:srgbClr val="231F20"/>
              </a:solidFill>
              <a:latin typeface="Formata-LightCondensed"/>
            </a:endParaRPr>
          </a:p>
          <a:p>
            <a:endParaRPr lang="es-AR" dirty="0">
              <a:solidFill>
                <a:srgbClr val="231F20"/>
              </a:solidFill>
              <a:latin typeface="Formata-LightCondensed"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9291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37067" y="597456"/>
            <a:ext cx="11717866" cy="8156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2800" b="1" dirty="0">
                <a:solidFill>
                  <a:srgbClr val="FFFF00"/>
                </a:solidFill>
                <a:latin typeface="+mj-lt"/>
              </a:rPr>
              <a:t>Actividad Óptica</a:t>
            </a:r>
          </a:p>
          <a:p>
            <a:endParaRPr lang="es-AR" b="1" dirty="0" smtClean="0">
              <a:solidFill>
                <a:srgbClr val="FFFF00"/>
              </a:solidFill>
              <a:latin typeface="+mj-lt"/>
            </a:endParaRPr>
          </a:p>
          <a:p>
            <a:r>
              <a:rPr lang="es-AR" b="1" dirty="0" smtClean="0">
                <a:solidFill>
                  <a:srgbClr val="FFFF00"/>
                </a:solidFill>
                <a:latin typeface="+mj-lt"/>
              </a:rPr>
              <a:t>Una </a:t>
            </a:r>
            <a:r>
              <a:rPr lang="es-AR" b="1" dirty="0">
                <a:solidFill>
                  <a:srgbClr val="FFFF00"/>
                </a:solidFill>
                <a:latin typeface="+mj-lt"/>
              </a:rPr>
              <a:t>sustancia es ópticamente activa si desvía el plano de polarización de un haz de luz polarizada</a:t>
            </a:r>
          </a:p>
          <a:p>
            <a:r>
              <a:rPr lang="es-AR" b="1" dirty="0">
                <a:solidFill>
                  <a:srgbClr val="FFFF00"/>
                </a:solidFill>
                <a:latin typeface="+mj-lt"/>
              </a:rPr>
              <a:t>que la atraviesa. </a:t>
            </a:r>
            <a:endParaRPr lang="es-AR" b="1" dirty="0" smtClean="0">
              <a:solidFill>
                <a:srgbClr val="FFFF00"/>
              </a:solidFill>
              <a:latin typeface="+mj-lt"/>
            </a:endParaRPr>
          </a:p>
          <a:p>
            <a:endParaRPr lang="es-AR" b="1" dirty="0" smtClean="0">
              <a:solidFill>
                <a:srgbClr val="FFFF00"/>
              </a:solidFill>
              <a:latin typeface="+mj-lt"/>
            </a:endParaRPr>
          </a:p>
          <a:p>
            <a:r>
              <a:rPr lang="es-AR" b="1" dirty="0" smtClean="0">
                <a:solidFill>
                  <a:srgbClr val="FFFF00"/>
                </a:solidFill>
                <a:latin typeface="+mj-lt"/>
              </a:rPr>
              <a:t>Esta </a:t>
            </a:r>
            <a:r>
              <a:rPr lang="es-AR" b="1" dirty="0">
                <a:solidFill>
                  <a:srgbClr val="FFFF00"/>
                </a:solidFill>
                <a:latin typeface="+mj-lt"/>
              </a:rPr>
              <a:t>frase no es un trabalenguas escrito adrede, veremos lo que significa.</a:t>
            </a:r>
          </a:p>
          <a:p>
            <a:endParaRPr lang="es-AR" b="1" dirty="0" smtClean="0">
              <a:solidFill>
                <a:srgbClr val="FFFF00"/>
              </a:solidFill>
              <a:latin typeface="+mj-lt"/>
            </a:endParaRPr>
          </a:p>
          <a:p>
            <a:r>
              <a:rPr lang="es-AR" b="1" dirty="0" smtClean="0">
                <a:solidFill>
                  <a:srgbClr val="FFFF00"/>
                </a:solidFill>
                <a:latin typeface="+mj-lt"/>
              </a:rPr>
              <a:t>Para </a:t>
            </a:r>
            <a:r>
              <a:rPr lang="es-AR" b="1" dirty="0">
                <a:solidFill>
                  <a:srgbClr val="FFFF00"/>
                </a:solidFill>
                <a:latin typeface="+mj-lt"/>
              </a:rPr>
              <a:t>comprender este fenómeno y su aplicación tecnológica es necesario analizar algunas</a:t>
            </a:r>
          </a:p>
          <a:p>
            <a:r>
              <a:rPr lang="es-AR" b="1" dirty="0">
                <a:solidFill>
                  <a:srgbClr val="FFFF00"/>
                </a:solidFill>
                <a:latin typeface="+mj-lt"/>
              </a:rPr>
              <a:t>propiedades de la luz.</a:t>
            </a:r>
          </a:p>
          <a:p>
            <a:endParaRPr lang="es-AR" b="1" dirty="0" smtClean="0">
              <a:solidFill>
                <a:srgbClr val="FFFF00"/>
              </a:solidFill>
              <a:latin typeface="+mj-lt"/>
            </a:endParaRPr>
          </a:p>
          <a:p>
            <a:r>
              <a:rPr lang="es-AR" b="1" dirty="0" smtClean="0">
                <a:solidFill>
                  <a:srgbClr val="FFFF00"/>
                </a:solidFill>
                <a:latin typeface="+mj-lt"/>
              </a:rPr>
              <a:t>Las </a:t>
            </a:r>
            <a:r>
              <a:rPr lang="es-AR" b="1" dirty="0">
                <a:solidFill>
                  <a:srgbClr val="FFFF00"/>
                </a:solidFill>
                <a:latin typeface="+mj-lt"/>
              </a:rPr>
              <a:t>fuentes luminosas naturales emiten luz constituida por una sucesión de trenes de onda</a:t>
            </a:r>
          </a:p>
          <a:p>
            <a:r>
              <a:rPr lang="es-AR" b="1" dirty="0">
                <a:solidFill>
                  <a:srgbClr val="FFFF00"/>
                </a:solidFill>
                <a:latin typeface="+mj-lt"/>
              </a:rPr>
              <a:t>cuyos planos de oscilación del campo electromagnético varían en todas las direcciones. </a:t>
            </a:r>
            <a:endParaRPr lang="es-AR" b="1" dirty="0" smtClean="0">
              <a:solidFill>
                <a:srgbClr val="FFFF00"/>
              </a:solidFill>
              <a:latin typeface="+mj-lt"/>
            </a:endParaRPr>
          </a:p>
          <a:p>
            <a:r>
              <a:rPr lang="es-AR" b="1" dirty="0" smtClean="0">
                <a:solidFill>
                  <a:srgbClr val="FFFF00"/>
                </a:solidFill>
                <a:latin typeface="+mj-lt"/>
              </a:rPr>
              <a:t>(Figura 6</a:t>
            </a:r>
            <a:r>
              <a:rPr lang="es-AR" b="1" dirty="0">
                <a:solidFill>
                  <a:srgbClr val="FFFF00"/>
                </a:solidFill>
                <a:latin typeface="+mj-lt"/>
              </a:rPr>
              <a:t>, izquierda de la reja).</a:t>
            </a:r>
          </a:p>
          <a:p>
            <a:endParaRPr lang="es-AR" b="1" dirty="0" smtClean="0">
              <a:solidFill>
                <a:srgbClr val="FFFF00"/>
              </a:solidFill>
              <a:latin typeface="+mj-lt"/>
            </a:endParaRPr>
          </a:p>
          <a:p>
            <a:r>
              <a:rPr lang="es-AR" b="1" dirty="0" smtClean="0">
                <a:solidFill>
                  <a:srgbClr val="FFFF00"/>
                </a:solidFill>
                <a:latin typeface="+mj-lt"/>
              </a:rPr>
              <a:t>Sin </a:t>
            </a:r>
            <a:r>
              <a:rPr lang="es-AR" b="1" dirty="0">
                <a:solidFill>
                  <a:srgbClr val="FFFF00"/>
                </a:solidFill>
                <a:latin typeface="+mj-lt"/>
              </a:rPr>
              <a:t>embargo, es posible lograr que las vibraciones luminosas se propaguen en un plano</a:t>
            </a:r>
          </a:p>
          <a:p>
            <a:r>
              <a:rPr lang="es-AR" b="1" dirty="0">
                <a:solidFill>
                  <a:srgbClr val="FFFF00"/>
                </a:solidFill>
                <a:latin typeface="+mj-lt"/>
              </a:rPr>
              <a:t>único, la luz así obtenida se denomina polarizada  </a:t>
            </a:r>
            <a:r>
              <a:rPr lang="es-AR" b="1" dirty="0" smtClean="0">
                <a:solidFill>
                  <a:srgbClr val="FFFF00"/>
                </a:solidFill>
                <a:latin typeface="+mj-lt"/>
              </a:rPr>
              <a:t>(</a:t>
            </a:r>
            <a:r>
              <a:rPr lang="es-AR" b="1" dirty="0">
                <a:solidFill>
                  <a:srgbClr val="FFFF00"/>
                </a:solidFill>
                <a:latin typeface="+mj-lt"/>
              </a:rPr>
              <a:t>Figura 6, derecha de la reja). </a:t>
            </a:r>
            <a:endParaRPr lang="es-AR" b="1" dirty="0" smtClean="0">
              <a:solidFill>
                <a:srgbClr val="FFFF00"/>
              </a:solidFill>
              <a:latin typeface="+mj-lt"/>
            </a:endParaRPr>
          </a:p>
          <a:p>
            <a:endParaRPr lang="es-AR" b="1" dirty="0" smtClean="0">
              <a:solidFill>
                <a:srgbClr val="FFFF00"/>
              </a:solidFill>
              <a:latin typeface="+mj-lt"/>
            </a:endParaRPr>
          </a:p>
          <a:p>
            <a:r>
              <a:rPr lang="es-AR" b="1" dirty="0" smtClean="0">
                <a:solidFill>
                  <a:srgbClr val="FFFF00"/>
                </a:solidFill>
                <a:latin typeface="+mj-lt"/>
              </a:rPr>
              <a:t>La </a:t>
            </a:r>
            <a:r>
              <a:rPr lang="es-AR" b="1" dirty="0">
                <a:solidFill>
                  <a:srgbClr val="FFFF00"/>
                </a:solidFill>
                <a:latin typeface="+mj-lt"/>
              </a:rPr>
              <a:t>luz </a:t>
            </a:r>
            <a:r>
              <a:rPr lang="es-AR" b="1" dirty="0" smtClean="0">
                <a:solidFill>
                  <a:srgbClr val="FFFF00"/>
                </a:solidFill>
                <a:latin typeface="+mj-lt"/>
              </a:rPr>
              <a:t>polarizada es </a:t>
            </a:r>
            <a:r>
              <a:rPr lang="es-AR" b="1" dirty="0">
                <a:solidFill>
                  <a:srgbClr val="FFFF00"/>
                </a:solidFill>
                <a:latin typeface="+mj-lt"/>
              </a:rPr>
              <a:t>muy frecuente; por ejemplo, aparece en el reflejo de una ruta mojada y en la luz que </a:t>
            </a:r>
            <a:r>
              <a:rPr lang="es-AR" b="1" dirty="0" smtClean="0">
                <a:solidFill>
                  <a:srgbClr val="FFFF00"/>
                </a:solidFill>
                <a:latin typeface="+mj-lt"/>
              </a:rPr>
              <a:t>es reflejada </a:t>
            </a:r>
            <a:r>
              <a:rPr lang="es-AR" b="1" dirty="0">
                <a:solidFill>
                  <a:srgbClr val="FFFF00"/>
                </a:solidFill>
                <a:latin typeface="+mj-lt"/>
              </a:rPr>
              <a:t>desde un espejo</a:t>
            </a:r>
            <a:r>
              <a:rPr lang="es-AR" b="1" dirty="0" smtClean="0">
                <a:solidFill>
                  <a:srgbClr val="FFFF00"/>
                </a:solidFill>
                <a:latin typeface="+mj-lt"/>
              </a:rPr>
              <a:t>.</a:t>
            </a:r>
          </a:p>
          <a:p>
            <a:endParaRPr lang="es-AR" dirty="0">
              <a:solidFill>
                <a:srgbClr val="231F20"/>
              </a:solidFill>
              <a:latin typeface="Formata-LightCondensed"/>
            </a:endParaRPr>
          </a:p>
          <a:p>
            <a:endParaRPr lang="es-AR" dirty="0" smtClean="0">
              <a:solidFill>
                <a:srgbClr val="231F20"/>
              </a:solidFill>
              <a:latin typeface="Formata-LightCondensed"/>
            </a:endParaRPr>
          </a:p>
          <a:p>
            <a:endParaRPr lang="es-AR" dirty="0">
              <a:solidFill>
                <a:srgbClr val="231F20"/>
              </a:solidFill>
              <a:latin typeface="Formata-LightCondensed"/>
            </a:endParaRPr>
          </a:p>
          <a:p>
            <a:endParaRPr lang="es-AR" dirty="0" smtClean="0">
              <a:solidFill>
                <a:srgbClr val="231F20"/>
              </a:solidFill>
              <a:latin typeface="Formata-LightCondensed"/>
            </a:endParaRPr>
          </a:p>
          <a:p>
            <a:endParaRPr lang="es-AR" dirty="0">
              <a:solidFill>
                <a:srgbClr val="231F20"/>
              </a:solidFill>
              <a:latin typeface="Formata-LightCondensed"/>
            </a:endParaRPr>
          </a:p>
          <a:p>
            <a:endParaRPr lang="es-AR" dirty="0" smtClean="0">
              <a:solidFill>
                <a:srgbClr val="231F20"/>
              </a:solidFill>
              <a:latin typeface="Formata-LightCondensed"/>
            </a:endParaRPr>
          </a:p>
          <a:p>
            <a:endParaRPr lang="es-AR" dirty="0">
              <a:solidFill>
                <a:srgbClr val="231F20"/>
              </a:solidFill>
              <a:latin typeface="Formata-LightCondensed"/>
            </a:endParaRPr>
          </a:p>
          <a:p>
            <a:endParaRPr lang="es-AR" dirty="0" smtClean="0">
              <a:solidFill>
                <a:srgbClr val="231F20"/>
              </a:solidFill>
              <a:latin typeface="Formata-LightCondensed"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67117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44" y="316089"/>
            <a:ext cx="11638845" cy="634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28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88" y="304800"/>
            <a:ext cx="11616267" cy="635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9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0" y="270934"/>
            <a:ext cx="11638845" cy="637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32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22" y="203200"/>
            <a:ext cx="11650134" cy="647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77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12" y="1049865"/>
            <a:ext cx="11537244" cy="48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388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22" y="203201"/>
            <a:ext cx="11582400" cy="643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60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237067"/>
            <a:ext cx="11774311" cy="637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7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78" y="361244"/>
            <a:ext cx="11559823" cy="614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477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6" y="316090"/>
            <a:ext cx="11593688" cy="628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95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1" y="225778"/>
            <a:ext cx="11548533" cy="643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83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78" y="214489"/>
            <a:ext cx="11548533" cy="645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291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44" y="248356"/>
            <a:ext cx="11559823" cy="638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77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7" y="282222"/>
            <a:ext cx="11537244" cy="634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85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89" y="282222"/>
            <a:ext cx="11537244" cy="629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35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22" y="282222"/>
            <a:ext cx="11650133" cy="225208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22" y="2428253"/>
            <a:ext cx="11650133" cy="420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63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1" y="248356"/>
            <a:ext cx="11604977" cy="643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120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6" y="259644"/>
            <a:ext cx="1154853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55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1" y="259645"/>
            <a:ext cx="11627556" cy="643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063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214488"/>
            <a:ext cx="11706577" cy="6434667"/>
          </a:xfrm>
          <a:prstGeom prst="rect">
            <a:avLst/>
          </a:prstGeom>
        </p:spPr>
      </p:pic>
      <p:cxnSp>
        <p:nvCxnSpPr>
          <p:cNvPr id="6" name="Conector recto de flecha 5"/>
          <p:cNvCxnSpPr/>
          <p:nvPr/>
        </p:nvCxnSpPr>
        <p:spPr>
          <a:xfrm flipV="1">
            <a:off x="7766756" y="1219200"/>
            <a:ext cx="259644" cy="948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redondeado 10"/>
          <p:cNvSpPr/>
          <p:nvPr/>
        </p:nvSpPr>
        <p:spPr>
          <a:xfrm>
            <a:off x="6265333" y="2280355"/>
            <a:ext cx="3747911" cy="891823"/>
          </a:xfrm>
          <a:prstGeom prst="roundRect">
            <a:avLst/>
          </a:prstGeom>
          <a:solidFill>
            <a:srgbClr val="5BEF1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Tener en cuenta la Importancia conceptual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53704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34" y="224931"/>
            <a:ext cx="11616267" cy="643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54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7" y="248357"/>
            <a:ext cx="11830754" cy="159001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57" y="1838371"/>
            <a:ext cx="11830754" cy="483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92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512</TotalTime>
  <Words>198</Words>
  <Application>Microsoft Office PowerPoint</Application>
  <PresentationFormat>Panorámica</PresentationFormat>
  <Paragraphs>50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Century Gothic</vt:lpstr>
      <vt:lpstr>Formata-LightCondensed</vt:lpstr>
      <vt:lpstr>Wingdings 3</vt:lpstr>
      <vt:lpstr>Ion</vt:lpstr>
      <vt:lpstr>   CRISTALES LÍQUIDOS  (LCD)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TEMÁTICA N° 6: OTOELECTRÓNICA</dc:title>
  <dc:creator>Carlos</dc:creator>
  <cp:lastModifiedBy>Carlos</cp:lastModifiedBy>
  <cp:revision>121</cp:revision>
  <dcterms:created xsi:type="dcterms:W3CDTF">2020-08-24T22:11:36Z</dcterms:created>
  <dcterms:modified xsi:type="dcterms:W3CDTF">2020-10-28T14:04:40Z</dcterms:modified>
</cp:coreProperties>
</file>