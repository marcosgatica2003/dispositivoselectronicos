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3" r:id="rId8"/>
    <p:sldId id="267" r:id="rId9"/>
    <p:sldId id="265" r:id="rId1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170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2176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533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357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161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006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711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1580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864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894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0540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5095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4137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193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33949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621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501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144B5C6-0DD3-4F7E-9C6C-BD0C1DFC3D56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960EC-9D20-421E-A2EB-26D50D850F0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54519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s.wikipedia.org/w/index.php?title=Antimoniuro_de_indio-aluminio&amp;action=edit&amp;redlink=1" TargetMode="External"/><Relationship Id="rId13" Type="http://schemas.openxmlformats.org/officeDocument/2006/relationships/hyperlink" Target="https://es.wikipedia.org/wiki/Nitruro_de_galio-indio" TargetMode="External"/><Relationship Id="rId3" Type="http://schemas.openxmlformats.org/officeDocument/2006/relationships/hyperlink" Target="https://es.wikipedia.org/wiki/Elementos_del_grupo_15" TargetMode="External"/><Relationship Id="rId7" Type="http://schemas.openxmlformats.org/officeDocument/2006/relationships/hyperlink" Target="https://es.wikipedia.org/w/index.php?title=Arseniuro_de_indio-aluminio&amp;action=edit&amp;redlink=1" TargetMode="External"/><Relationship Id="rId12" Type="http://schemas.openxmlformats.org/officeDocument/2006/relationships/hyperlink" Target="https://es.wikipedia.org/w/index.php?title=Fosfuro_de_galio-aluminio&amp;action=edit&amp;redlink=1" TargetMode="External"/><Relationship Id="rId2" Type="http://schemas.openxmlformats.org/officeDocument/2006/relationships/hyperlink" Target="https://es.wikipedia.org/wiki/Elementos_del_grupo_13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s.wikipedia.org/w/index.php?title=Fosfuro_de_galio-indio&amp;action=edit&amp;redlink=1" TargetMode="External"/><Relationship Id="rId11" Type="http://schemas.openxmlformats.org/officeDocument/2006/relationships/hyperlink" Target="https://es.wikipedia.org/w/index.php?title=Nitruro_de_galio-aluminio&amp;action=edit&amp;redlink=1" TargetMode="External"/><Relationship Id="rId5" Type="http://schemas.openxmlformats.org/officeDocument/2006/relationships/hyperlink" Target="https://es.wikipedia.org/w/index.php?title=Arseniuro_de_galio-indio&amp;action=edit&amp;redlink=1" TargetMode="External"/><Relationship Id="rId15" Type="http://schemas.openxmlformats.org/officeDocument/2006/relationships/hyperlink" Target="https://es.wikipedia.org/w/index.php?title=Antimoniuro_de_galio-indio&amp;action=edit&amp;redlink=1" TargetMode="External"/><Relationship Id="rId10" Type="http://schemas.openxmlformats.org/officeDocument/2006/relationships/hyperlink" Target="https://es.wikipedia.org/w/index.php?title=Fosfuro_de_galio-ars%C3%A9nico&amp;action=edit&amp;redlink=1" TargetMode="External"/><Relationship Id="rId4" Type="http://schemas.openxmlformats.org/officeDocument/2006/relationships/hyperlink" Target="https://es.wikipedia.org/wiki/Arseniuro_de_galio-aluminio" TargetMode="External"/><Relationship Id="rId9" Type="http://schemas.openxmlformats.org/officeDocument/2006/relationships/hyperlink" Target="https://es.wikipedia.org/w/index.php?title=Nitruro_de_galio-arsenico&amp;action=edit&amp;redlink=1" TargetMode="External"/><Relationship Id="rId14" Type="http://schemas.openxmlformats.org/officeDocument/2006/relationships/hyperlink" Target="https://es.wikipedia.org/w/index.php?title=Antimoniuro_de_indio-ars%C3%A9nico&amp;action=edit&amp;redlink=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Elementos_del_grupo_15" TargetMode="External"/><Relationship Id="rId7" Type="http://schemas.openxmlformats.org/officeDocument/2006/relationships/hyperlink" Target="https://es.wikipedia.org/w/index.php?title=Seleniuro_de_mercurio-zinc&amp;action=edit&amp;redlink=1" TargetMode="External"/><Relationship Id="rId2" Type="http://schemas.openxmlformats.org/officeDocument/2006/relationships/hyperlink" Target="https://es.wikipedia.org/wiki/Elementos_del_grupo_13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s.wikipedia.org/w/index.php?title=Telururo_de_mercurio-zinc&amp;action=edit&amp;redlink=1" TargetMode="External"/><Relationship Id="rId5" Type="http://schemas.openxmlformats.org/officeDocument/2006/relationships/hyperlink" Target="https://es.wikipedia.org/w/index.php?title=Telururo_de_mercurio-cadmio&amp;action=edit&amp;redlink=1" TargetMode="External"/><Relationship Id="rId4" Type="http://schemas.openxmlformats.org/officeDocument/2006/relationships/hyperlink" Target="https://es.wikipedia.org/w/index.php?title=Telururo_de_cadmio-zinc&amp;action=edit&amp;redlink=1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es.wikipedia.org/w/index.php?title=Nitruro_de_aluminio-galio-ars%C3%A9nico&amp;action=edit&amp;redlink=1" TargetMode="External"/><Relationship Id="rId3" Type="http://schemas.openxmlformats.org/officeDocument/2006/relationships/hyperlink" Target="https://es.wikipedia.org/wiki/Elementos_del_grupo_15" TargetMode="External"/><Relationship Id="rId7" Type="http://schemas.openxmlformats.org/officeDocument/2006/relationships/hyperlink" Target="https://es.wikipedia.org/w/index.php?title=Fosfuro_de_aluminio-indio-ars%C3%A9nico&amp;action=edit&amp;redlink=1" TargetMode="External"/><Relationship Id="rId2" Type="http://schemas.openxmlformats.org/officeDocument/2006/relationships/hyperlink" Target="https://es.wikipedia.org/wiki/Elementos_del_grupo_13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s.wikipedia.org/w/index.php?title=Fosfuro_de_indio-galio-ars%C3%A9nico&amp;action=edit&amp;redlink=1" TargetMode="External"/><Relationship Id="rId5" Type="http://schemas.openxmlformats.org/officeDocument/2006/relationships/hyperlink" Target="https://es.wikipedia.org/w/index.php?title=Fosfuro_de_aluminio-galio-ars%C3%A9nico&amp;action=edit&amp;redlink=1" TargetMode="External"/><Relationship Id="rId10" Type="http://schemas.openxmlformats.org/officeDocument/2006/relationships/hyperlink" Target="https://es.wikipedia.org/w/index.php?title=Nitruro_de_indio-aluminio-ars%C3%A9nico&amp;action=edit&amp;redlink=1" TargetMode="External"/><Relationship Id="rId4" Type="http://schemas.openxmlformats.org/officeDocument/2006/relationships/hyperlink" Target="https://es.wikipedia.org/w/index.php?title=Fosfuro_de_aluminio-galio-indio&amp;action=edit&amp;redlink=1" TargetMode="External"/><Relationship Id="rId9" Type="http://schemas.openxmlformats.org/officeDocument/2006/relationships/hyperlink" Target="https://es.wikipedia.org/w/index.php?title=Nitruro_de_indio-galio-ars%C3%A9nico&amp;action=edit&amp;redlink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3511" y="452718"/>
            <a:ext cx="11616267" cy="6230304"/>
          </a:xfrm>
        </p:spPr>
        <p:txBody>
          <a:bodyPr/>
          <a:lstStyle/>
          <a:p>
            <a:pPr algn="ctr"/>
            <a:r>
              <a:rPr lang="es-AR" dirty="0" smtClean="0"/>
              <a:t/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sz="6000" dirty="0" smtClean="0"/>
              <a:t>SEMICONDUCTORES </a:t>
            </a:r>
            <a:br>
              <a:rPr lang="es-AR" sz="6000" dirty="0" smtClean="0"/>
            </a:br>
            <a:endParaRPr lang="es-AR" sz="6000" dirty="0"/>
          </a:p>
        </p:txBody>
      </p:sp>
    </p:spTree>
    <p:extLst>
      <p:ext uri="{BB962C8B-B14F-4D97-AF65-F5344CB8AC3E}">
        <p14:creationId xmlns:p14="http://schemas.microsoft.com/office/powerpoint/2010/main" val="231641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62844" y="395112"/>
            <a:ext cx="11356623" cy="1006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4000" dirty="0">
                <a:latin typeface="TimesNewRoman"/>
              </a:rPr>
              <a:t>En la tabla 1.1 se muestra una parte de la tabla periódica en la que aparecen los </a:t>
            </a:r>
            <a:r>
              <a:rPr lang="es-AR" sz="4000" dirty="0" smtClean="0">
                <a:latin typeface="TimesNewRoman"/>
              </a:rPr>
              <a:t>principales semiconductores</a:t>
            </a:r>
            <a:r>
              <a:rPr lang="es-AR" sz="4000" dirty="0">
                <a:latin typeface="TimesNewRoman"/>
              </a:rPr>
              <a:t>. </a:t>
            </a:r>
            <a:endParaRPr lang="es-AR" sz="4000" dirty="0" smtClean="0">
              <a:latin typeface="TimesNewRoman"/>
            </a:endParaRPr>
          </a:p>
          <a:p>
            <a:r>
              <a:rPr lang="es-AR" sz="4000" dirty="0" smtClean="0">
                <a:latin typeface="TimesNewRoman"/>
              </a:rPr>
              <a:t>Se </a:t>
            </a:r>
            <a:r>
              <a:rPr lang="es-AR" sz="4000" dirty="0">
                <a:latin typeface="TimesNewRoman"/>
              </a:rPr>
              <a:t>indica en cada celda el número atómico del elemento. </a:t>
            </a:r>
            <a:endParaRPr lang="es-AR" sz="4000" dirty="0" smtClean="0">
              <a:latin typeface="TimesNewRoman"/>
            </a:endParaRPr>
          </a:p>
          <a:p>
            <a:r>
              <a:rPr lang="es-AR" sz="4000" dirty="0" smtClean="0">
                <a:latin typeface="TimesNewRoman"/>
              </a:rPr>
              <a:t>Debe </a:t>
            </a:r>
            <a:r>
              <a:rPr lang="es-AR" sz="4000" dirty="0">
                <a:latin typeface="TimesNewRoman"/>
              </a:rPr>
              <a:t>recordarse que </a:t>
            </a:r>
            <a:r>
              <a:rPr lang="es-AR" sz="4000" dirty="0" smtClean="0">
                <a:latin typeface="TimesNewRoman"/>
              </a:rPr>
              <a:t>los elementos </a:t>
            </a:r>
            <a:r>
              <a:rPr lang="es-AR" sz="4000" dirty="0">
                <a:latin typeface="TimesNewRoman"/>
              </a:rPr>
              <a:t>de la columna II tienen dos electrones de valencia, mientras que los de la columna III </a:t>
            </a:r>
            <a:r>
              <a:rPr lang="es-AR" sz="4000" dirty="0" smtClean="0">
                <a:latin typeface="TimesNewRoman"/>
              </a:rPr>
              <a:t>tienen tres</a:t>
            </a:r>
            <a:r>
              <a:rPr lang="es-AR" sz="4000" dirty="0">
                <a:latin typeface="TimesNewRoman"/>
              </a:rPr>
              <a:t>, y así sucesivamente</a:t>
            </a:r>
            <a:r>
              <a:rPr lang="es-AR" sz="4000" dirty="0" smtClean="0">
                <a:latin typeface="TimesNewRoman"/>
              </a:rPr>
              <a:t>.</a:t>
            </a:r>
          </a:p>
          <a:p>
            <a:endParaRPr lang="es-AR" dirty="0">
              <a:latin typeface="TimesNewRoman"/>
            </a:endParaRPr>
          </a:p>
          <a:p>
            <a:endParaRPr lang="es-AR" dirty="0" smtClean="0">
              <a:latin typeface="TimesNewRoman"/>
            </a:endParaRPr>
          </a:p>
          <a:p>
            <a:endParaRPr lang="es-AR" dirty="0">
              <a:latin typeface="TimesNewRoman"/>
            </a:endParaRPr>
          </a:p>
          <a:p>
            <a:endParaRPr lang="es-AR" dirty="0" smtClean="0">
              <a:latin typeface="TimesNewRoman"/>
            </a:endParaRPr>
          </a:p>
          <a:p>
            <a:endParaRPr lang="es-AR" dirty="0">
              <a:latin typeface="TimesNewRoman"/>
            </a:endParaRPr>
          </a:p>
          <a:p>
            <a:endParaRPr lang="es-AR" dirty="0" smtClean="0">
              <a:latin typeface="TimesNewRoman"/>
            </a:endParaRPr>
          </a:p>
          <a:p>
            <a:endParaRPr lang="es-AR" dirty="0">
              <a:latin typeface="TimesNewRoman"/>
            </a:endParaRPr>
          </a:p>
          <a:p>
            <a:endParaRPr lang="es-AR" dirty="0" smtClean="0">
              <a:latin typeface="TimesNewRoman"/>
            </a:endParaRPr>
          </a:p>
          <a:p>
            <a:endParaRPr lang="es-AR" dirty="0">
              <a:latin typeface="TimesNewRoman"/>
            </a:endParaRPr>
          </a:p>
          <a:p>
            <a:endParaRPr lang="es-AR" dirty="0" smtClean="0">
              <a:latin typeface="TimesNewRoman"/>
            </a:endParaRPr>
          </a:p>
          <a:p>
            <a:endParaRPr lang="es-AR" dirty="0">
              <a:latin typeface="TimesNewRoman"/>
            </a:endParaRPr>
          </a:p>
          <a:p>
            <a:endParaRPr lang="es-AR" dirty="0" smtClean="0">
              <a:latin typeface="TimesNewRoman"/>
            </a:endParaRPr>
          </a:p>
          <a:p>
            <a:endParaRPr lang="es-AR" dirty="0">
              <a:latin typeface="TimesNewRoman"/>
            </a:endParaRPr>
          </a:p>
          <a:p>
            <a:endParaRPr lang="es-AR" dirty="0" smtClean="0">
              <a:latin typeface="TimesNewRoman"/>
            </a:endParaRPr>
          </a:p>
          <a:p>
            <a:endParaRPr lang="es-AR" dirty="0">
              <a:latin typeface="TimesNewRoman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0082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9" y="304800"/>
            <a:ext cx="11537244" cy="633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5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7" y="316090"/>
            <a:ext cx="11706576" cy="634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07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44" y="349955"/>
            <a:ext cx="11480800" cy="622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1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1207910"/>
            <a:ext cx="11401778" cy="438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9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345225"/>
              </p:ext>
            </p:extLst>
          </p:nvPr>
        </p:nvGraphicFramePr>
        <p:xfrm>
          <a:off x="541866" y="361249"/>
          <a:ext cx="11300178" cy="64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0089"/>
                <a:gridCol w="5650089"/>
              </a:tblGrid>
              <a:tr h="1223667"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 smtClean="0">
                        <a:solidFill>
                          <a:srgbClr val="202122"/>
                        </a:solidFill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4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Aleaciones triples con elementos de los grupos </a:t>
                      </a:r>
                      <a:r>
                        <a:rPr lang="es-AR" sz="2400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  <a:hlinkClick r:id="rId2" tooltip="Elementos del grupo 13"/>
                        </a:rPr>
                        <a:t>III</a:t>
                      </a:r>
                      <a:r>
                        <a:rPr lang="es-AR" sz="24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 y </a:t>
                      </a:r>
                      <a:r>
                        <a:rPr lang="es-AR" sz="2400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  <a:hlinkClick r:id="rId3" tooltip="Elementos del grupo 15"/>
                        </a:rPr>
                        <a:t>V</a:t>
                      </a:r>
                      <a:endParaRPr lang="es-AR" sz="2400" dirty="0" smtClean="0">
                        <a:solidFill>
                          <a:srgbClr val="0B0080"/>
                        </a:solidFill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400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</a:rPr>
                        <a:t>(Semiconductores Ternarios)</a:t>
                      </a:r>
                    </a:p>
                    <a:p>
                      <a:pPr algn="ctr"/>
                      <a:endParaRPr lang="es-AR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  <a:hlinkClick r:id="rId4" tooltip="Arseniuro de galio-aluminio"/>
                        </a:rPr>
                        <a:t>Arseniuro de galio-aluminio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AlGaAs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, Al</a:t>
                      </a:r>
                      <a:r>
                        <a:rPr lang="es-AR" baseline="-250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x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Ga</a:t>
                      </a:r>
                      <a:r>
                        <a:rPr lang="es-AR" baseline="-250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1-x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As)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5" tooltip="Arseniuro de galio-indio (aún no redactado)"/>
                        </a:rPr>
                        <a:t>Arseniuro de galio-indio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InGaAs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, In</a:t>
                      </a:r>
                      <a:r>
                        <a:rPr lang="es-AR" baseline="-250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x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Ga</a:t>
                      </a:r>
                      <a:r>
                        <a:rPr lang="es-AR" baseline="-250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1-x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As)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6" tooltip="Fosfuro de galio-indio (aún no redactado)"/>
                        </a:rPr>
                        <a:t>Fosfuro de galio-indio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InGaP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7" tooltip="Arseniuro de indio-aluminio (aún no redactado)"/>
                        </a:rPr>
                        <a:t>Arseniuro de indio-aluminio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AlInAs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8" tooltip="Antimoniuro de indio-aluminio (aún no redactado)"/>
                        </a:rPr>
                        <a:t>Antimoniuro de indio-aluminio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AlInSb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9" tooltip="Nitruro de galio-arsenico (aún no redactado)"/>
                        </a:rPr>
                        <a:t>Nitruro de galio-</a:t>
                      </a:r>
                      <a:r>
                        <a:rPr lang="es-AR" dirty="0" err="1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9" tooltip="Nitruro de galio-arsenico (aún no redactado)"/>
                        </a:rPr>
                        <a:t>arsenico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GaAsN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10" tooltip="Fosfuro de galio-arsénico (aún no redactado)"/>
                        </a:rPr>
                        <a:t>Fosfuro de galio-arsénico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GaAsP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11" tooltip="Nitruro de galio-aluminio (aún no redactado)"/>
                        </a:rPr>
                        <a:t>Nitruro de galio-aluminio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AlGaN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12" tooltip="Fosfuro de galio-aluminio (aún no redactado)"/>
                        </a:rPr>
                        <a:t>Fosfuro de galio-aluminio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AlGaP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  <a:hlinkClick r:id="rId13" tooltip="Nitruro de galio-indio"/>
                        </a:rPr>
                        <a:t>Nitruro de galio-indio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InGaN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14" tooltip="Antimoniuro de indio-arsénico (aún no redactado)"/>
                        </a:rPr>
                        <a:t>Antimoniuro de indio-arsénico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InAsSb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  <a:tr h="413553"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A55858"/>
                          </a:solidFill>
                          <a:latin typeface="Arial" panose="020B0604020202020204" pitchFamily="34" charset="0"/>
                          <a:hlinkClick r:id="rId15" tooltip="Antimoniuro de galio-indio (aún no redactado)"/>
                        </a:rPr>
                        <a:t>Antimoniuro de galio-indio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dirty="0" err="1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InGaSb</a:t>
                      </a:r>
                      <a:r>
                        <a:rPr lang="es-AR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)</a:t>
                      </a:r>
                      <a:endParaRPr lang="es-A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14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201480"/>
              </p:ext>
            </p:extLst>
          </p:nvPr>
        </p:nvGraphicFramePr>
        <p:xfrm>
          <a:off x="541866" y="361249"/>
          <a:ext cx="11108268" cy="6175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134"/>
                <a:gridCol w="5554134"/>
              </a:tblGrid>
              <a:tr h="2245461"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 smtClean="0">
                        <a:solidFill>
                          <a:srgbClr val="202122"/>
                        </a:solidFill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4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Aleaciones triples con elementos de los grupos </a:t>
                      </a:r>
                      <a:r>
                        <a:rPr lang="es-AR" sz="2400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  <a:hlinkClick r:id="rId2" tooltip="Elementos del grupo 13"/>
                        </a:rPr>
                        <a:t>II</a:t>
                      </a:r>
                      <a:r>
                        <a:rPr lang="es-AR" sz="24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 y </a:t>
                      </a:r>
                      <a:r>
                        <a:rPr lang="es-AR" sz="2400" dirty="0" smtClean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hlinkClick r:id="rId3" tooltip="Elementos del grupo 15"/>
                        </a:rPr>
                        <a:t>V</a:t>
                      </a:r>
                      <a:r>
                        <a:rPr lang="es-AR" sz="2400" dirty="0" smtClean="0">
                          <a:solidFill>
                            <a:srgbClr val="00B0F0"/>
                          </a:solidFill>
                          <a:latin typeface="Arial" panose="020B0604020202020204" pitchFamily="34" charset="0"/>
                        </a:rPr>
                        <a:t>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2400" smtClean="0">
                        <a:solidFill>
                          <a:srgbClr val="0B0080"/>
                        </a:solidFill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40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s-AR" sz="2400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</a:rPr>
                        <a:t>Semiconductores </a:t>
                      </a:r>
                      <a:r>
                        <a:rPr lang="es-AR" sz="240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</a:rPr>
                        <a:t>Ternarios)</a:t>
                      </a:r>
                      <a:endParaRPr lang="es-AR" sz="2400" dirty="0" smtClean="0">
                        <a:solidFill>
                          <a:srgbClr val="0B0080"/>
                        </a:solidFill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</a:tr>
              <a:tr h="982389">
                <a:tc>
                  <a:txBody>
                    <a:bodyPr/>
                    <a:lstStyle/>
                    <a:p>
                      <a:endParaRPr lang="es-AR" sz="1800" b="0" i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4" tooltip="Telururo de cadmio-zinc (aún no redactado)"/>
                      </a:endParaRPr>
                    </a:p>
                    <a:p>
                      <a:r>
                        <a:rPr lang="es-AR" sz="1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Telururo de cadmio-zinc (aún no redactado)"/>
                        </a:rPr>
                        <a:t>Telururo</a:t>
                      </a:r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Telururo de cadmio-zinc (aún no redactado)"/>
                        </a:rPr>
                        <a:t> de cadmio-zinc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endParaRPr lang="es-AR" sz="1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CdZnTe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CZT)</a:t>
                      </a:r>
                      <a:endParaRPr lang="es-AR" dirty="0"/>
                    </a:p>
                  </a:txBody>
                  <a:tcPr/>
                </a:tc>
              </a:tr>
              <a:tr h="982389">
                <a:tc>
                  <a:txBody>
                    <a:bodyPr/>
                    <a:lstStyle/>
                    <a:p>
                      <a:endParaRPr lang="es-AR" sz="1800" b="0" i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5" tooltip="Telururo de mercurio-cadmio (aún no redactado)"/>
                      </a:endParaRPr>
                    </a:p>
                    <a:p>
                      <a:r>
                        <a:rPr lang="es-AR" sz="1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Telururo de mercurio-cadmio (aún no redactado)"/>
                        </a:rPr>
                        <a:t>Telururo</a:t>
                      </a:r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Telururo de mercurio-cadmio (aún no redactado)"/>
                        </a:rPr>
                        <a:t> de mercurio-cadmio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HgCdTe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  <a:tr h="982389">
                <a:tc>
                  <a:txBody>
                    <a:bodyPr/>
                    <a:lstStyle/>
                    <a:p>
                      <a:endParaRPr lang="es-AR" sz="1800" b="0" i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6" tooltip="Telururo de mercurio-zinc (aún no redactado)"/>
                      </a:endParaRPr>
                    </a:p>
                    <a:p>
                      <a:r>
                        <a:rPr lang="es-AR" sz="1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 tooltip="Telururo de mercurio-zinc (aún no redactado)"/>
                        </a:rPr>
                        <a:t>Telururo</a:t>
                      </a:r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 tooltip="Telururo de mercurio-zinc (aún no redactado)"/>
                        </a:rPr>
                        <a:t> de mercurio-zinc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HgZnTe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  <a:tr h="982389">
                <a:tc>
                  <a:txBody>
                    <a:bodyPr/>
                    <a:lstStyle/>
                    <a:p>
                      <a:endParaRPr lang="es-AR" sz="1800" b="0" i="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hlinkClick r:id="rId7" tooltip="Seleniuro de mercurio-zinc (aún no redactado)"/>
                      </a:endParaRPr>
                    </a:p>
                    <a:p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 tooltip="Seleniuro de mercurio-zinc (aún no redactado)"/>
                        </a:rPr>
                        <a:t>Seleniuro de mercurio-zinc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HgZnSe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666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2024"/>
              </p:ext>
            </p:extLst>
          </p:nvPr>
        </p:nvGraphicFramePr>
        <p:xfrm>
          <a:off x="541866" y="361249"/>
          <a:ext cx="11300178" cy="612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0089"/>
                <a:gridCol w="5650089"/>
              </a:tblGrid>
              <a:tr h="1314974"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 smtClean="0">
                        <a:solidFill>
                          <a:srgbClr val="202122"/>
                        </a:solidFill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4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Aleaciones Cuádruples con elementos de los grupos </a:t>
                      </a:r>
                      <a:r>
                        <a:rPr lang="es-AR" sz="2400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  <a:hlinkClick r:id="rId2" tooltip="Elementos del grupo 13"/>
                        </a:rPr>
                        <a:t>III</a:t>
                      </a:r>
                      <a:r>
                        <a:rPr lang="es-AR" sz="2400" dirty="0" smtClean="0">
                          <a:solidFill>
                            <a:srgbClr val="202122"/>
                          </a:solidFill>
                          <a:latin typeface="Arial" panose="020B0604020202020204" pitchFamily="34" charset="0"/>
                        </a:rPr>
                        <a:t> y </a:t>
                      </a:r>
                      <a:r>
                        <a:rPr lang="es-AR" sz="2400" dirty="0" smtClean="0">
                          <a:solidFill>
                            <a:srgbClr val="0B0080"/>
                          </a:solidFill>
                          <a:latin typeface="Arial" panose="020B0604020202020204" pitchFamily="34" charset="0"/>
                          <a:hlinkClick r:id="rId3" tooltip="Elementos del grupo 15"/>
                        </a:rPr>
                        <a:t>V</a:t>
                      </a:r>
                      <a:endParaRPr lang="es-AR" sz="2400" dirty="0" smtClean="0">
                        <a:solidFill>
                          <a:srgbClr val="0B0080"/>
                        </a:solidFill>
                        <a:latin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AR" sz="2400" dirty="0" smtClean="0"/>
                        <a:t>(Semiconductores cuaternarios)</a:t>
                      </a:r>
                      <a:endParaRPr lang="es-AR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pPr lvl="0" algn="l"/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Fosfuro de aluminio-galio-indio (aún no redactado)"/>
                        </a:rPr>
                        <a:t>Fosfuro de aluminio-galio-indio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AlGaInP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 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InAlGaP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InGaAlP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AlInGaP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Fosfuro de aluminio-galio-arsénico (aún no redactado)"/>
                        </a:rPr>
                        <a:t>Fosfuro de aluminio-galio-arsénico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AlGaAsP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 tooltip="Fosfuro de indio-galio-arsénico (aún no redactado)"/>
                        </a:rPr>
                        <a:t>Fosfuro de indio-galio-arsénico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InGaAsP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 tooltip="Fosfuro de aluminio-indio-arsénico (aún no redactado)"/>
                        </a:rPr>
                        <a:t>Fosfuro de aluminio-indio-arsénico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AlInAsP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 tooltip="Nitruro de aluminio-galio-arsénico (aún no redactado)"/>
                        </a:rPr>
                        <a:t>Nitruro de aluminio-galio-arsénico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AlGaAsN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 tooltip="Nitruro de indio-galio-arsénico (aún no redactado)"/>
                        </a:rPr>
                        <a:t>Nitruro de indio-galio-arsénico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InGaAsN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  <a:tr h="687841">
                <a:tc>
                  <a:txBody>
                    <a:bodyPr/>
                    <a:lstStyle/>
                    <a:p>
                      <a:r>
                        <a:rPr lang="es-AR" sz="1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 tooltip="Nitruro de indio-aluminio-arsénico (aún no redactado)"/>
                        </a:rPr>
                        <a:t>Nitruro de indio-aluminio-arsénico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InAlAsN</a:t>
                      </a:r>
                      <a:r>
                        <a:rPr lang="es-A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s-A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5258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</TotalTime>
  <Words>232</Words>
  <Application>Microsoft Office PowerPoint</Application>
  <PresentationFormat>Panorámica</PresentationFormat>
  <Paragraphs>82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TimesNewRoman</vt:lpstr>
      <vt:lpstr>Wingdings 3</vt:lpstr>
      <vt:lpstr>Ion</vt:lpstr>
      <vt:lpstr>    SEMICONDUCTORES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</dc:creator>
  <cp:lastModifiedBy>Carlos</cp:lastModifiedBy>
  <cp:revision>23</cp:revision>
  <dcterms:created xsi:type="dcterms:W3CDTF">2020-08-25T00:39:03Z</dcterms:created>
  <dcterms:modified xsi:type="dcterms:W3CDTF">2020-08-25T14:01:15Z</dcterms:modified>
</cp:coreProperties>
</file>